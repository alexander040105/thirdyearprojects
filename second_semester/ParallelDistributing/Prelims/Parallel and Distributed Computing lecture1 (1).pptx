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217" autoAdjust="0"/>
    <p:restoredTop sz="94660"/>
  </p:normalViewPr>
  <p:slideViewPr>
    <p:cSldViewPr snapToGrid="0">
      <p:cViewPr varScale="1">
        <p:scale>
          <a:sx n="55" d="100"/>
          <a:sy n="55" d="100"/>
        </p:scale>
        <p:origin x="14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80CB4-998B-F5A8-A7E1-9EE4B5194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D8507B-8938-1733-5641-145F3A1381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FC55F-58CE-CDC8-4B69-AA7006C92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8B2A-EE6F-46CA-8C54-3FC1645E86DA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3B1BF-D140-80C0-5E29-423CA08A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341A2-224D-9875-370E-DE7B8A6CF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BF230-50B9-44E9-AD79-216A74D99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90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4C37-A503-8977-881E-930FCCE2D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94ABA-ED60-06C3-FF49-778D8DB46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A6284-B383-A7EE-A020-9DC2C97A4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8B2A-EE6F-46CA-8C54-3FC1645E86DA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C0D3E-089C-0DFE-A322-986B4FA57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D2C1A-4AC9-DF29-0680-5A08AEBA2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BF230-50B9-44E9-AD79-216A74D99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510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A6D02-7060-3F49-C28B-6E0502DCA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F198B-C124-44DF-4B17-6B7596500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03583-C240-A78E-3836-D32253888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8B2A-EE6F-46CA-8C54-3FC1645E86DA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29265-B335-0D18-7702-5E844723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17AF5-A231-37D4-8F04-870AD5881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BF230-50B9-44E9-AD79-216A74D99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356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62002-1B31-64D7-906A-C9CC69111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BD368-9A9B-E603-424C-2ECEE006E8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247DFF-F796-2664-AF4B-C70012A2A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A2BB8-899B-C4F6-7B20-35A111356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8B2A-EE6F-46CA-8C54-3FC1645E86DA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58943-EA27-F083-258B-2C16B163D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AEFEA-7A8D-747F-50C4-56DF08B34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BF230-50B9-44E9-AD79-216A74D99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12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D951C-932C-D855-60A4-0FA44F968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7EE4E-99F0-1E51-DFE0-65E0B9EAF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D5B40C-9C5D-AF80-281E-AA6D3BEE4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DD122A-FF00-B7B3-FF83-016D54CC8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F79BDE-9120-F200-6A84-E30CA62521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A3D1AD-7D26-5D01-7A97-1C028A1BF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8B2A-EE6F-46CA-8C54-3FC1645E86DA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D992D7-D66A-3132-3D79-059B83B52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236B10-B4D8-DBEA-DFB0-81D5F04B9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BF230-50B9-44E9-AD79-216A74D99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04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06B6A-84C0-1340-3A30-F10D46953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6942D-6EBF-A7CA-6D24-284E8DF30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8B2A-EE6F-46CA-8C54-3FC1645E86DA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0EFACC-531E-6DD4-CD6B-67D3A53CA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BC17E7-2B04-EE36-7A27-BC930E4F0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BF230-50B9-44E9-AD79-216A74D99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09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B94188-E17D-FAA4-1507-9E9700F4B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8B2A-EE6F-46CA-8C54-3FC1645E86DA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8A07A-53BB-6984-8CEB-A18EEEE29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98B74-CF3B-F801-8752-15BA4B408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BF230-50B9-44E9-AD79-216A74D99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232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B1159-7029-F5D3-4246-615D679F4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08733-B83A-6278-8C31-2F0DD4345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37E7D-D441-17F2-FBF9-F863FE02F1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8E4A08-61B8-57D2-C829-22EB71926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8B2A-EE6F-46CA-8C54-3FC1645E86DA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F1DFE-D64C-5E07-3ED8-BAAEAA319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30B23-9B77-F888-B68D-28A626F8F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BF230-50B9-44E9-AD79-216A74D99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88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953D-A727-A02C-ACB3-A68292B34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79AF29-07AE-4C11-4565-19ED56B7A5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9452F3-ED92-DFD9-BBA1-454054089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DEAFC-3D94-B701-3A61-DCB08C4C9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8B2A-EE6F-46CA-8C54-3FC1645E86DA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50A1E-9ADF-4ECE-BE34-19CFC8536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4ADA9-6E81-CCC1-2061-CCE112308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BF230-50B9-44E9-AD79-216A74D99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20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4F93B-31AE-D15E-0AE2-AB3616B8B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7C995-E1A3-E68C-0EC8-D4E26DB03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4881C-0D51-441D-76B2-6E6058501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8B2A-EE6F-46CA-8C54-3FC1645E86DA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A3D04-C0A1-854B-6ACA-FE47C38E1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F57EA-0A77-26F9-6B74-5AB4070F1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BF230-50B9-44E9-AD79-216A74D99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8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3685EE-1087-7CD0-82B2-75DF3E71A8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FBBF70-8A1C-3023-43AE-EECF05887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C2753-7F22-580C-8D76-91FA08B05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8B2A-EE6F-46CA-8C54-3FC1645E86DA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3441F-3E4D-930C-D877-D69AD6EF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520A2-EAA3-91B5-9077-90551972D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BF230-50B9-44E9-AD79-216A74D99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465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6F0C42-527C-99EA-C015-E0BDCED9A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E7EAFF-634D-76BA-3E5C-55F66300F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49E3-B8FC-3587-24B3-982FA6A032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C08B2A-EE6F-46CA-8C54-3FC1645E86DA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94D49-71E0-9BBB-91A6-49D801FE7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C8F85-739F-B7F2-1DCE-5A367900A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9BF230-50B9-44E9-AD79-216A74D99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46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AA9E0-DEFD-2DC9-DC62-46FF64C6E6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Parallel and Distributed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7F5FAD-0CE2-8329-2556-94BDF4A58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01633"/>
            <a:ext cx="9144000" cy="1655762"/>
          </a:xfrm>
        </p:spPr>
        <p:txBody>
          <a:bodyPr>
            <a:normAutofit/>
          </a:bodyPr>
          <a:lstStyle/>
          <a:p>
            <a:endParaRPr lang="en-US" sz="3200" dirty="0"/>
          </a:p>
          <a:p>
            <a:r>
              <a:rPr lang="en-US" sz="3200" dirty="0"/>
              <a:t>Prof. Edward N. Cruz</a:t>
            </a:r>
          </a:p>
        </p:txBody>
      </p:sp>
    </p:spTree>
    <p:extLst>
      <p:ext uri="{BB962C8B-B14F-4D97-AF65-F5344CB8AC3E}">
        <p14:creationId xmlns:p14="http://schemas.microsoft.com/office/powerpoint/2010/main" val="4268158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A2548-AA5D-FC0C-A739-CFD581C32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1B6D9-D9A5-B929-87DA-B507A812A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Parallel and Distributed Computing</a:t>
            </a:r>
            <a:r>
              <a:rPr lang="en-US" dirty="0"/>
              <a:t> are two closely related concepts in computer science that focus on improving performance, efficiency, and scalability by using multiple computing resources at the same time.</a:t>
            </a:r>
          </a:p>
        </p:txBody>
      </p:sp>
    </p:spTree>
    <p:extLst>
      <p:ext uri="{BB962C8B-B14F-4D97-AF65-F5344CB8AC3E}">
        <p14:creationId xmlns:p14="http://schemas.microsoft.com/office/powerpoint/2010/main" val="3796840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04191-EC99-C82D-ADCA-AD521B68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CC490-F5F3-4922-FD69-521DEC295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Parallel computing</a:t>
            </a:r>
            <a:r>
              <a:rPr lang="en-US" dirty="0"/>
              <a:t> is a type of computation where </a:t>
            </a:r>
            <a:r>
              <a:rPr lang="en-US" b="1" dirty="0"/>
              <a:t>multiple processing units work simultaneously on different parts of the same problem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Key Idea</a:t>
            </a:r>
          </a:p>
          <a:p>
            <a:r>
              <a:rPr lang="en-US" i="1" dirty="0"/>
              <a:t>Do many calculations at the same time within one system.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779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1EED9-0E3C-018A-E1DF-A16558F38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69AFC-9E87-0FED-9356-EEC9D0948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</a:t>
            </a:r>
            <a:r>
              <a:rPr lang="en-US" b="1" dirty="0"/>
              <a:t>multiple CPUs or cores</a:t>
            </a:r>
            <a:r>
              <a:rPr lang="en-US" dirty="0"/>
              <a:t> in a single computer</a:t>
            </a:r>
          </a:p>
          <a:p>
            <a:r>
              <a:rPr lang="en-US" dirty="0"/>
              <a:t>Tasks are divided into </a:t>
            </a:r>
            <a:r>
              <a:rPr lang="en-US" b="1" dirty="0"/>
              <a:t>smaller subtasks</a:t>
            </a:r>
            <a:endParaRPr lang="en-US" dirty="0"/>
          </a:p>
          <a:p>
            <a:r>
              <a:rPr lang="en-US" dirty="0"/>
              <a:t>Subtasks run </a:t>
            </a:r>
            <a:r>
              <a:rPr lang="en-US" b="1" dirty="0"/>
              <a:t>simultaneously</a:t>
            </a:r>
            <a:endParaRPr lang="en-US" dirty="0"/>
          </a:p>
          <a:p>
            <a:r>
              <a:rPr lang="en-US" dirty="0"/>
              <a:t>High-speed communication (shared memory)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dirty="0"/>
              <a:t>A multicore processor running different parts of a matrix calculation at the same time</a:t>
            </a:r>
          </a:p>
          <a:p>
            <a:r>
              <a:rPr lang="en-US" dirty="0"/>
              <a:t>GPU processing thousands of pixels simultaneously in image processing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628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79E37-A947-9D1E-D60D-656AA915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60966-C888-A0FC-C063-3A1651ED5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Common Technologies</a:t>
            </a:r>
          </a:p>
          <a:p>
            <a:r>
              <a:rPr lang="en-US" dirty="0"/>
              <a:t>Multicore processors</a:t>
            </a:r>
          </a:p>
          <a:p>
            <a:r>
              <a:rPr lang="en-US" dirty="0"/>
              <a:t>GPUs</a:t>
            </a:r>
          </a:p>
          <a:p>
            <a:r>
              <a:rPr lang="en-US" dirty="0"/>
              <a:t>OpenMP, CUDA, MPI (in shared-memory systems)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395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56433-682D-193F-454E-0429D04BD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2A1B5-90F1-54B9-E355-8CE6A7072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Simple Example</a:t>
            </a:r>
          </a:p>
          <a:p>
            <a:pPr marL="0" indent="0">
              <a:buNone/>
            </a:pPr>
            <a:r>
              <a:rPr lang="en-US" dirty="0"/>
              <a:t>If a program needs to process </a:t>
            </a:r>
            <a:r>
              <a:rPr lang="en-US" b="1" dirty="0"/>
              <a:t>1,000,000 numbers</a:t>
            </a:r>
            <a:r>
              <a:rPr lang="en-US" dirty="0"/>
              <a:t>, it can:</a:t>
            </a:r>
          </a:p>
          <a:p>
            <a:r>
              <a:rPr lang="en-US" dirty="0"/>
              <a:t>Split the data into 4 parts</a:t>
            </a:r>
          </a:p>
          <a:p>
            <a:r>
              <a:rPr lang="en-US" dirty="0"/>
              <a:t>Assign each part to a different CPU core</a:t>
            </a:r>
          </a:p>
          <a:p>
            <a:r>
              <a:rPr lang="en-US" dirty="0"/>
              <a:t>Process them at the same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143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2FB7A-7DB2-AE97-D5C2-322041FA7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44F0A-A8ED-AD03-A2CC-813E23CF5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Distributed computing</a:t>
            </a:r>
            <a:r>
              <a:rPr lang="en-US" dirty="0"/>
              <a:t> is a system where </a:t>
            </a:r>
            <a:r>
              <a:rPr lang="en-US" b="1" dirty="0"/>
              <a:t>multiple independent computers (nodes) work together over a network</a:t>
            </a:r>
            <a:r>
              <a:rPr lang="en-US" dirty="0"/>
              <a:t> to solve a problem.</a:t>
            </a:r>
          </a:p>
          <a:p>
            <a:pPr marL="0" indent="0">
              <a:buNone/>
            </a:pPr>
            <a:r>
              <a:rPr lang="en-US" b="1" dirty="0"/>
              <a:t>Key Idea</a:t>
            </a:r>
          </a:p>
          <a:p>
            <a:r>
              <a:rPr lang="en-US" i="1" dirty="0"/>
              <a:t>Many computers cooperate to solve a task.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212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892B4-E972-6AA4-CF23-811AFC079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E9F5B2B-8F44-AE9A-EFC5-E481C85CB8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3395" y="1514644"/>
            <a:ext cx="8512138" cy="4741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multiple computers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computer has its own memory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 happens over a network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scalable and fault-tolerant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dirty="0"/>
              <a:t>Cloud computing systems (e.g., Google Cloud, AWS)</a:t>
            </a:r>
          </a:p>
          <a:p>
            <a:r>
              <a:rPr lang="en-US" dirty="0"/>
              <a:t>A web application running on multiple servers</a:t>
            </a:r>
          </a:p>
          <a:p>
            <a:r>
              <a:rPr lang="en-US" dirty="0"/>
              <a:t>Distributed databases like Cassandra or MongoDB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613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69188-A3A9-7509-8EE2-329D79E9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Technologies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FADD54-D313-65F6-3D39-1FF3B4733F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1821" y="1809624"/>
            <a:ext cx="799481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Hadoop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Distributed systems using TCP/IP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Microservices architecture</a:t>
            </a:r>
          </a:p>
        </p:txBody>
      </p:sp>
    </p:spTree>
    <p:extLst>
      <p:ext uri="{BB962C8B-B14F-4D97-AF65-F5344CB8AC3E}">
        <p14:creationId xmlns:p14="http://schemas.microsoft.com/office/powerpoint/2010/main" val="2114548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C8FF-4252-20B3-A3BD-8FADD4D3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9179A-0A93-FBA7-3CFE-574315C89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Example</a:t>
            </a:r>
          </a:p>
          <a:p>
            <a:pPr marL="0" indent="0">
              <a:buNone/>
            </a:pPr>
            <a:r>
              <a:rPr lang="en-US" dirty="0"/>
              <a:t>A search engine:</a:t>
            </a:r>
          </a:p>
          <a:p>
            <a:r>
              <a:rPr lang="en-US" dirty="0"/>
              <a:t>One server stores web pages</a:t>
            </a:r>
          </a:p>
          <a:p>
            <a:r>
              <a:rPr lang="en-US" dirty="0"/>
              <a:t>Another processes search queries</a:t>
            </a:r>
          </a:p>
          <a:p>
            <a:r>
              <a:rPr lang="en-US" dirty="0"/>
              <a:t>Others rank and return results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58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00A7B37-4458-4745-AA03-7239FAF2D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097E1D96-7C8B-400D-A348-5CCBDCAFB7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0E5BB2AC-B50A-43D8-A7F2-1340091989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71BAE2-808E-8DDF-4C21-0053F2F9D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086" y="383457"/>
            <a:ext cx="10545713" cy="2788920"/>
          </a:xfrm>
        </p:spPr>
        <p:txBody>
          <a:bodyPr anchor="b">
            <a:normAutofit/>
          </a:bodyPr>
          <a:lstStyle/>
          <a:p>
            <a:pPr algn="ctr"/>
            <a:r>
              <a:rPr lang="en-US" sz="4800">
                <a:solidFill>
                  <a:schemeClr val="bg1"/>
                </a:solidFill>
              </a:rPr>
              <a:t>Parallel vs Distributed Computing (Comparison)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43E7E7-E8B6-4540-9F64-16248A70A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57" y="3245529"/>
            <a:ext cx="10911259" cy="325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ED4C8A7-B081-FE9D-60AB-4E66E08C4A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0980543"/>
              </p:ext>
            </p:extLst>
          </p:nvPr>
        </p:nvGraphicFramePr>
        <p:xfrm>
          <a:off x="838200" y="3596691"/>
          <a:ext cx="10515601" cy="2516196"/>
        </p:xfrm>
        <a:graphic>
          <a:graphicData uri="http://schemas.openxmlformats.org/drawingml/2006/table">
            <a:tbl>
              <a:tblPr/>
              <a:tblGrid>
                <a:gridCol w="3208471">
                  <a:extLst>
                    <a:ext uri="{9D8B030D-6E8A-4147-A177-3AD203B41FA5}">
                      <a16:colId xmlns:a16="http://schemas.microsoft.com/office/drawing/2014/main" val="574208537"/>
                    </a:ext>
                  </a:extLst>
                </a:gridCol>
                <a:gridCol w="3653565">
                  <a:extLst>
                    <a:ext uri="{9D8B030D-6E8A-4147-A177-3AD203B41FA5}">
                      <a16:colId xmlns:a16="http://schemas.microsoft.com/office/drawing/2014/main" val="1068310479"/>
                    </a:ext>
                  </a:extLst>
                </a:gridCol>
                <a:gridCol w="3653565">
                  <a:extLst>
                    <a:ext uri="{9D8B030D-6E8A-4147-A177-3AD203B41FA5}">
                      <a16:colId xmlns:a16="http://schemas.microsoft.com/office/drawing/2014/main" val="2544806272"/>
                    </a:ext>
                  </a:extLst>
                </a:gridCol>
              </a:tblGrid>
              <a:tr h="4193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Aspect</a:t>
                      </a:r>
                    </a:p>
                  </a:txBody>
                  <a:tcPr marL="95310" marR="95310" marT="47655" marB="47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Parallel Computing</a:t>
                      </a:r>
                    </a:p>
                  </a:txBody>
                  <a:tcPr marL="95310" marR="95310" marT="47655" marB="47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Distributed Computing</a:t>
                      </a:r>
                    </a:p>
                  </a:txBody>
                  <a:tcPr marL="95310" marR="95310" marT="47655" marB="47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742129"/>
                  </a:ext>
                </a:extLst>
              </a:tr>
              <a:tr h="4193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System</a:t>
                      </a:r>
                    </a:p>
                  </a:txBody>
                  <a:tcPr marL="95310" marR="95310" marT="47655" marB="47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Single computer</a:t>
                      </a:r>
                    </a:p>
                  </a:txBody>
                  <a:tcPr marL="95310" marR="95310" marT="47655" marB="47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Multiple computers</a:t>
                      </a:r>
                    </a:p>
                  </a:txBody>
                  <a:tcPr marL="95310" marR="95310" marT="47655" marB="47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993720"/>
                  </a:ext>
                </a:extLst>
              </a:tr>
              <a:tr h="4193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Memory</a:t>
                      </a:r>
                    </a:p>
                  </a:txBody>
                  <a:tcPr marL="95310" marR="95310" marT="47655" marB="47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Shared memory</a:t>
                      </a:r>
                    </a:p>
                  </a:txBody>
                  <a:tcPr marL="95310" marR="95310" marT="47655" marB="47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Separate memory</a:t>
                      </a:r>
                    </a:p>
                  </a:txBody>
                  <a:tcPr marL="95310" marR="95310" marT="47655" marB="47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83879"/>
                  </a:ext>
                </a:extLst>
              </a:tr>
              <a:tr h="4193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Communication</a:t>
                      </a:r>
                    </a:p>
                  </a:txBody>
                  <a:tcPr marL="95310" marR="95310" marT="47655" marB="47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Very fast</a:t>
                      </a:r>
                    </a:p>
                  </a:txBody>
                  <a:tcPr marL="95310" marR="95310" marT="47655" marB="47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Slower (network-based)</a:t>
                      </a:r>
                    </a:p>
                  </a:txBody>
                  <a:tcPr marL="95310" marR="95310" marT="47655" marB="47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876729"/>
                  </a:ext>
                </a:extLst>
              </a:tr>
              <a:tr h="4193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Scalability</a:t>
                      </a:r>
                    </a:p>
                  </a:txBody>
                  <a:tcPr marL="95310" marR="95310" marT="47655" marB="47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Limited</a:t>
                      </a:r>
                    </a:p>
                  </a:txBody>
                  <a:tcPr marL="95310" marR="95310" marT="47655" marB="47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Highly scalable</a:t>
                      </a:r>
                    </a:p>
                  </a:txBody>
                  <a:tcPr marL="95310" marR="95310" marT="47655" marB="47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997614"/>
                  </a:ext>
                </a:extLst>
              </a:tr>
              <a:tr h="4193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Fault tolerance</a:t>
                      </a:r>
                    </a:p>
                  </a:txBody>
                  <a:tcPr marL="95310" marR="95310" marT="47655" marB="47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effectLst/>
                          <a:latin typeface="Arial" panose="020B0604020202020204" pitchFamily="34" charset="0"/>
                        </a:rPr>
                        <a:t>Low</a:t>
                      </a:r>
                    </a:p>
                  </a:txBody>
                  <a:tcPr marL="95310" marR="95310" marT="47655" marB="47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 dirty="0">
                          <a:effectLst/>
                          <a:latin typeface="Arial" panose="020B0604020202020204" pitchFamily="34" charset="0"/>
                        </a:rPr>
                        <a:t>High</a:t>
                      </a:r>
                    </a:p>
                  </a:txBody>
                  <a:tcPr marL="95310" marR="95310" marT="47655" marB="47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3654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6333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B4272-79C9-DA0A-7B5C-06AF55429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871D05-D663-7FE9-F38C-5E3C4DBA1DD5}"/>
              </a:ext>
            </a:extLst>
          </p:cNvPr>
          <p:cNvSpPr txBox="1"/>
          <p:nvPr/>
        </p:nvSpPr>
        <p:spPr>
          <a:xfrm>
            <a:off x="1333983" y="2277335"/>
            <a:ext cx="878229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Relationship Between the Two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Distributed systems can use parallel computing internally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Modern systems (e.g., cloud data centers) often combine </a:t>
            </a:r>
            <a:r>
              <a:rPr lang="en-US" sz="2800" b="1" dirty="0"/>
              <a:t>both</a:t>
            </a:r>
            <a:endParaRPr lang="en-US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Parallel computing within each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Distributed computing across many servers</a:t>
            </a:r>
          </a:p>
        </p:txBody>
      </p:sp>
    </p:spTree>
    <p:extLst>
      <p:ext uri="{BB962C8B-B14F-4D97-AF65-F5344CB8AC3E}">
        <p14:creationId xmlns:p14="http://schemas.microsoft.com/office/powerpoint/2010/main" val="28324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39F0-AD2E-1580-BF40-7C7A09BE6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It Matters in Computer Science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FA0AB7-D836-90C3-630D-DDCDCBFBB1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2324" y="2209201"/>
            <a:ext cx="1145967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large-scale problems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and speed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 data, AI, scientific simulations, and cloud computing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81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1485483F5FE40A3F7439926E92E6A" ma:contentTypeVersion="0" ma:contentTypeDescription="Create a new document." ma:contentTypeScope="" ma:versionID="35035d142ca5dc8501bd470e0fb3838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84c390a07b92f3072bc78982b6f0c3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3D71AFD-4D16-4F0C-9AC5-BF0FD292A622}"/>
</file>

<file path=customXml/itemProps2.xml><?xml version="1.0" encoding="utf-8"?>
<ds:datastoreItem xmlns:ds="http://schemas.openxmlformats.org/officeDocument/2006/customXml" ds:itemID="{E7CEA4BE-9D73-4D3B-8EC5-14C9593B118B}"/>
</file>

<file path=customXml/itemProps3.xml><?xml version="1.0" encoding="utf-8"?>
<ds:datastoreItem xmlns:ds="http://schemas.openxmlformats.org/officeDocument/2006/customXml" ds:itemID="{346A580D-605B-4DFE-9775-135BFDCA3DF6}"/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386</Words>
  <Application>Microsoft Office PowerPoint</Application>
  <PresentationFormat>Widescreen</PresentationFormat>
  <Paragraphs>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Parallel and Distributed Computing</vt:lpstr>
      <vt:lpstr>PowerPoint Presentation</vt:lpstr>
      <vt:lpstr>Parallel Computing</vt:lpstr>
      <vt:lpstr>Characteristics </vt:lpstr>
      <vt:lpstr>PowerPoint Presentation</vt:lpstr>
      <vt:lpstr>PowerPoint Presentation</vt:lpstr>
      <vt:lpstr>Distributed Computing</vt:lpstr>
      <vt:lpstr>Characteristics</vt:lpstr>
      <vt:lpstr>Common Technologies</vt:lpstr>
      <vt:lpstr>PowerPoint Presentation</vt:lpstr>
      <vt:lpstr>Parallel vs Distributed Computing (Comparison)</vt:lpstr>
      <vt:lpstr>PowerPoint Presentation</vt:lpstr>
      <vt:lpstr>Why It Matters in Computer Science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Dave Caballero</dc:creator>
  <cp:lastModifiedBy>Dave Caballero</cp:lastModifiedBy>
  <cp:revision>4</cp:revision>
  <dcterms:created xsi:type="dcterms:W3CDTF">2026-01-10T06:45:51Z</dcterms:created>
  <dcterms:modified xsi:type="dcterms:W3CDTF">2026-01-10T08:50:33Z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0x01010034D1485483F5FE40A3F7439926E92E6A</vt:lpwstr>
  </property>
</Properties>
</file>