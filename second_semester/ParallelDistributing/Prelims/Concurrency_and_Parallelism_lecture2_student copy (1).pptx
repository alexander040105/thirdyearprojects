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64" r:id="rId6"/>
    <p:sldId id="259" r:id="rId7"/>
    <p:sldId id="260" r:id="rId8"/>
    <p:sldId id="263" r:id="rId9"/>
    <p:sldId id="265" r:id="rId10"/>
    <p:sldId id="261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451" autoAdjust="0"/>
  </p:normalViewPr>
  <p:slideViewPr>
    <p:cSldViewPr snapToGrid="0" snapToObjects="1">
      <p:cViewPr varScale="1">
        <p:scale>
          <a:sx n="46" d="100"/>
          <a:sy n="46" d="100"/>
        </p:scale>
        <p:origin x="186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63822-13D1-4A11-87EA-4F5270725BBA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EC63-1165-4240-890B-84820E70C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5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9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59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9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70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56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62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66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AEC63-1165-4240-890B-84820E70CF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1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Concurrency and Parallelism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Concepts in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Parallelism?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Parallelism is performing multiple tasks or parts of a task at the same time</a:t>
            </a:r>
          </a:p>
          <a:p>
            <a:r>
              <a:t>using multiple processors or CPU cores.</a:t>
            </a:r>
          </a:p>
          <a:p>
            <a:endParaRPr/>
          </a:p>
          <a:p>
            <a:r>
              <a:t>Goal: Faster execution and better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dirty="0"/>
              <a:t>Real-life Example:</a:t>
            </a:r>
          </a:p>
          <a:p>
            <a:pPr marL="0" indent="0">
              <a:buNone/>
            </a:pPr>
            <a:r>
              <a:rPr dirty="0"/>
              <a:t>• A restaurant kitchen where chefs cook different dishes at the same time.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Computer Example:</a:t>
            </a:r>
          </a:p>
          <a:p>
            <a:r>
              <a:rPr dirty="0"/>
              <a:t> </a:t>
            </a:r>
            <a:r>
              <a:rPr lang="en-US" dirty="0"/>
              <a:t>A </a:t>
            </a:r>
            <a:r>
              <a:rPr lang="en-US" b="1" dirty="0"/>
              <a:t>multi-core processor</a:t>
            </a:r>
            <a:r>
              <a:rPr lang="en-US" dirty="0"/>
              <a:t> running multiple calculations at once. For example, when editing a video:</a:t>
            </a:r>
          </a:p>
          <a:p>
            <a:r>
              <a:rPr lang="en-US" dirty="0"/>
              <a:t>One core processes video frames</a:t>
            </a:r>
          </a:p>
          <a:p>
            <a:r>
              <a:rPr lang="en-US" dirty="0"/>
              <a:t>Another core applies effects</a:t>
            </a:r>
          </a:p>
          <a:p>
            <a:r>
              <a:rPr lang="en-US" dirty="0"/>
              <a:t>Another core handles audio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13BE-0376-9793-FDA7-C1602C29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A76B-79DA-3A28-3EA5-6AAB081D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programming example:</a:t>
            </a:r>
            <a:br>
              <a:rPr lang="en-US" dirty="0"/>
            </a:br>
            <a:r>
              <a:rPr lang="en-US" dirty="0"/>
              <a:t>Processing a large dataset where different portions of the data are analyzed simultaneously using multiple CPU cores.</a:t>
            </a:r>
          </a:p>
          <a:p>
            <a:r>
              <a:rPr lang="en-US" dirty="0"/>
              <a:t>👉 In short, </a:t>
            </a:r>
            <a:r>
              <a:rPr lang="en-US" b="1" dirty="0"/>
              <a:t>parallelism = doing many things at the same time to finish faster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5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85B6-76B3-8DBF-4924-BEE0EEEB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3408-A812-F06D-7BEF-D7F0DE825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Scenario:</a:t>
            </a:r>
            <a:r>
              <a:rPr lang="en-US" dirty="0"/>
              <a:t> A computer with </a:t>
            </a:r>
            <a:r>
              <a:rPr lang="en-US" b="1" dirty="0"/>
              <a:t>4 CPU cores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Time →</a:t>
            </a:r>
          </a:p>
          <a:p>
            <a:pPr marL="0" indent="0">
              <a:buNone/>
            </a:pPr>
            <a:r>
              <a:rPr lang="en-US" dirty="0"/>
              <a:t>Core 1: [ Task A ]</a:t>
            </a:r>
          </a:p>
          <a:p>
            <a:pPr marL="0" indent="0">
              <a:buNone/>
            </a:pPr>
            <a:r>
              <a:rPr lang="en-US" dirty="0"/>
              <a:t>Core 2: [ Task B ]</a:t>
            </a:r>
          </a:p>
          <a:p>
            <a:pPr marL="0" indent="0">
              <a:buNone/>
            </a:pPr>
            <a:r>
              <a:rPr lang="en-US" dirty="0"/>
              <a:t>Core 3: [ Task C ]</a:t>
            </a:r>
          </a:p>
          <a:p>
            <a:pPr marL="0" indent="0">
              <a:buNone/>
            </a:pPr>
            <a:r>
              <a:rPr lang="en-US" dirty="0"/>
              <a:t>Core 4: [ Task D ]</a:t>
            </a:r>
          </a:p>
          <a:p>
            <a:pPr marL="0" indent="0">
              <a:buNone/>
            </a:pPr>
            <a:r>
              <a:rPr lang="en-US" dirty="0"/>
              <a:t>✅ All tasks run </a:t>
            </a:r>
            <a:r>
              <a:rPr lang="en-US" b="1" dirty="0"/>
              <a:t>at the same time</a:t>
            </a:r>
            <a:br>
              <a:rPr lang="en-US" dirty="0"/>
            </a:br>
            <a:r>
              <a:rPr lang="en-US" dirty="0"/>
              <a:t>✅ Requires </a:t>
            </a:r>
            <a:r>
              <a:rPr lang="en-US" b="1" dirty="0"/>
              <a:t>multiple processors or cores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9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Concurrency?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Concurrency is handling multiple tasks at once by switching between them.</a:t>
            </a:r>
          </a:p>
          <a:p>
            <a:r>
              <a:t>Tasks may not run simultaneously but appear to run at the same time.</a:t>
            </a:r>
          </a:p>
          <a:p>
            <a:endParaRPr/>
          </a:p>
          <a:p>
            <a:r>
              <a:t>Goal: Responsiveness and efficient task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Real-life Example:</a:t>
            </a:r>
          </a:p>
          <a:p>
            <a:pPr marL="0" indent="0">
              <a:buNone/>
            </a:pPr>
            <a:r>
              <a:rPr dirty="0"/>
              <a:t>• A teacher managing different student concerns one at a time.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Computer Example:</a:t>
            </a:r>
          </a:p>
          <a:p>
            <a:pPr marL="0" indent="0">
              <a:buNone/>
            </a:pPr>
            <a:r>
              <a:rPr dirty="0"/>
              <a:t>• A single-core CPU running</a:t>
            </a:r>
            <a:r>
              <a:rPr lang="en-US" dirty="0"/>
              <a:t> and playing</a:t>
            </a:r>
            <a:r>
              <a:rPr dirty="0"/>
              <a:t> music, browsing, and download</a:t>
            </a:r>
            <a:r>
              <a:rPr lang="en-US" dirty="0"/>
              <a:t> a file</a:t>
            </a:r>
            <a:r>
              <a:rPr dirty="0"/>
              <a:t> by task switching.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1D85-F171-27CB-EF2F-E72D4E4D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4FD8-B99E-37C8-5C12-69C15E7A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programming example:</a:t>
            </a:r>
            <a:br>
              <a:rPr lang="en-US" dirty="0"/>
            </a:br>
            <a:r>
              <a:rPr lang="en-US" dirty="0"/>
              <a:t>A web server handling multiple user requests by interleaving their execution rather than finishing one request before starting another.</a:t>
            </a:r>
          </a:p>
          <a:p>
            <a:r>
              <a:rPr lang="en-US" dirty="0"/>
              <a:t>👉 In short, </a:t>
            </a:r>
            <a:r>
              <a:rPr lang="en-US" b="1" dirty="0"/>
              <a:t>concurrency = managing multiple tasks at once</a:t>
            </a:r>
            <a:r>
              <a:rPr lang="en-US" dirty="0"/>
              <a:t>, while </a:t>
            </a:r>
            <a:r>
              <a:rPr lang="en-US" b="1" dirty="0"/>
              <a:t>parallelism = executing multiple tasks at the same time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12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BF9E-AEBA-26A9-C026-13478F63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2DC6-655B-7AB8-55D2-631272CC0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Scenario:</a:t>
            </a:r>
            <a:r>
              <a:rPr lang="it-IT" dirty="0"/>
              <a:t> A computer with </a:t>
            </a:r>
            <a:r>
              <a:rPr lang="it-IT" b="1" dirty="0"/>
              <a:t>1 CPU core</a:t>
            </a:r>
          </a:p>
          <a:p>
            <a:pPr marL="0" indent="0">
              <a:buNone/>
            </a:pPr>
            <a:r>
              <a:rPr lang="en-US" dirty="0"/>
              <a:t>Time →</a:t>
            </a:r>
          </a:p>
          <a:p>
            <a:pPr marL="0" indent="0">
              <a:buNone/>
            </a:pPr>
            <a:r>
              <a:rPr lang="en-US" dirty="0"/>
              <a:t>CPU: [ Task A ] → [ Task B ] → [ Task C ] → [ Task A ] → [ Task B ]</a:t>
            </a:r>
          </a:p>
          <a:p>
            <a:pPr marL="0" indent="0">
              <a:buNone/>
            </a:pPr>
            <a:r>
              <a:rPr lang="en-US" dirty="0"/>
              <a:t>✅ Only </a:t>
            </a:r>
            <a:r>
              <a:rPr lang="en-US" b="1" dirty="0"/>
              <a:t>one task runs at a time</a:t>
            </a:r>
            <a:br>
              <a:rPr lang="en-US" dirty="0"/>
            </a:br>
            <a:r>
              <a:rPr lang="en-US" dirty="0"/>
              <a:t>✅ CPU switches tasks very fast (</a:t>
            </a:r>
            <a:r>
              <a:rPr lang="en-US" b="1" dirty="0"/>
              <a:t>context switching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✅ Tasks appear to run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3157225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vs Parallelism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630CB1-5513-46A4-6941-1AEDC0D734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177381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2202256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3610452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0449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Illustration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62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Parallelism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workers working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time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2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Concurrency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worker multitasking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Task switching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331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7AE44E2-7FA0-FE55-B4FE-774AF1CA7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Visual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795F6CE-4CB0-33C8-114D-1FE097DA8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7" y="2288503"/>
            <a:ext cx="477436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Visual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209B-947C-DF23-C302-C4541816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C5B8-7DE1-9FBC-C02A-467DA53D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Instructions:</a:t>
            </a:r>
          </a:p>
          <a:p>
            <a:pPr marL="0" indent="0">
              <a:buNone/>
            </a:pPr>
            <a:r>
              <a:rPr lang="en-US" dirty="0"/>
              <a:t>You will be given a list of scenarios.</a:t>
            </a:r>
            <a:br>
              <a:rPr lang="en-US" dirty="0"/>
            </a:br>
            <a:r>
              <a:rPr lang="en-US" dirty="0"/>
              <a:t>Classify each scenario as </a:t>
            </a:r>
            <a:r>
              <a:rPr lang="en-US" b="1" dirty="0"/>
              <a:t>Parallelism</a:t>
            </a:r>
            <a:r>
              <a:rPr lang="en-US" dirty="0"/>
              <a:t> or </a:t>
            </a:r>
            <a:r>
              <a:rPr lang="en-US" b="1" dirty="0"/>
              <a:t>Concurrency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Scenarios: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quad-core CPU rendering a video using all cores at the same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cashier serving many customers by switching between them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Multiple printers printing different documents simultaneously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single-core CPU running music, browser, and chat apps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Four students solving different parts of a group project at the same time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EAA3A0-89C9-0DCD-B37D-9D39703E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39" y="5235339"/>
            <a:ext cx="5359675" cy="153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06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42F2-0589-5D21-6091-5482EDE3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C48C5-ABC2-DA65-186C-C41A6922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1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1485483F5FE40A3F7439926E92E6A" ma:contentTypeVersion="3" ma:contentTypeDescription="Create a new document." ma:contentTypeScope="" ma:versionID="bc4df2c00bb8f37f109f96250d750faf">
  <xsd:schema xmlns:xsd="http://www.w3.org/2001/XMLSchema" xmlns:xs="http://www.w3.org/2001/XMLSchema" xmlns:p="http://schemas.microsoft.com/office/2006/metadata/properties" xmlns:ns2="3cf14926-99d8-4ecd-80fe-5d0a05341b5b" targetNamespace="http://schemas.microsoft.com/office/2006/metadata/properties" ma:root="true" ma:fieldsID="a569b1895d495c538655a882017292d0" ns2:_="">
    <xsd:import namespace="3cf14926-99d8-4ecd-80fe-5d0a05341b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f14926-99d8-4ecd-80fe-5d0a05341b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13D58E-8911-406F-A628-8CE25BB8EB7B}"/>
</file>

<file path=customXml/itemProps2.xml><?xml version="1.0" encoding="utf-8"?>
<ds:datastoreItem xmlns:ds="http://schemas.openxmlformats.org/officeDocument/2006/customXml" ds:itemID="{935D2B76-6B73-44A6-AAEF-0788E3DEE0C8}"/>
</file>

<file path=customXml/itemProps3.xml><?xml version="1.0" encoding="utf-8"?>
<ds:datastoreItem xmlns:ds="http://schemas.openxmlformats.org/officeDocument/2006/customXml" ds:itemID="{E08D67AE-AB5C-4703-A572-474463033BE1}"/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490</Words>
  <Application>Microsoft Office PowerPoint</Application>
  <PresentationFormat>On-screen Show (4:3)</PresentationFormat>
  <Paragraphs>74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Concurrency and Parallelism</vt:lpstr>
      <vt:lpstr>What is Parallelism?</vt:lpstr>
      <vt:lpstr>Example of Parallelism</vt:lpstr>
      <vt:lpstr>PowerPoint Presentation</vt:lpstr>
      <vt:lpstr>PowerPoint Presentation</vt:lpstr>
      <vt:lpstr>What is Concurrency?</vt:lpstr>
      <vt:lpstr>Example of Concurrency</vt:lpstr>
      <vt:lpstr>PowerPoint Presentation</vt:lpstr>
      <vt:lpstr>PowerPoint Presentation</vt:lpstr>
      <vt:lpstr>Concurrency vs Parallelism</vt:lpstr>
      <vt:lpstr>CLASS ACTIVITY</vt:lpstr>
      <vt:lpstr>ANSWER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Lheo</dc:creator>
  <cp:keywords/>
  <dc:description>generated using python-pptx</dc:description>
  <cp:lastModifiedBy>Dave Caballero</cp:lastModifiedBy>
  <cp:revision>7</cp:revision>
  <dcterms:created xsi:type="dcterms:W3CDTF">2013-01-27T09:14:16Z</dcterms:created>
  <dcterms:modified xsi:type="dcterms:W3CDTF">2026-01-17T03:18:00Z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0x01010034D1485483F5FE40A3F7439926E92E6A</vt:lpwstr>
  </property>
</Properties>
</file>