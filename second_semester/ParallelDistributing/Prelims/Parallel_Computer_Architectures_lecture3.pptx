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7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66" r:id="rId4"/>
    <p:sldId id="257" r:id="rId5"/>
    <p:sldId id="267" r:id="rId6"/>
    <p:sldId id="268" r:id="rId7"/>
    <p:sldId id="269" r:id="rId8"/>
    <p:sldId id="270" r:id="rId9"/>
    <p:sldId id="27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53" autoAdjust="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192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32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947F17-04A2-4099-914F-90519FFD5217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8C4189-1818-4269-BF44-5E1903A50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598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Parallel computer architecture</a:t>
            </a:r>
            <a:r>
              <a:rPr lang="en-US" dirty="0"/>
              <a:t> is a system design where multiple processors execute tasks simultaneously to improve speed and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8C4189-1818-4269-BF44-5E1903A50C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122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analogy:</a:t>
            </a:r>
            <a:br>
              <a:rPr lang="en-US" dirty="0"/>
            </a:br>
            <a:r>
              <a:rPr lang="en-US" dirty="0"/>
              <a:t>If one person cleans a house, it takes longer. If </a:t>
            </a:r>
            <a:r>
              <a:rPr lang="en-US" b="1" dirty="0"/>
              <a:t>four people clean different rooms at the same time</a:t>
            </a:r>
            <a:r>
              <a:rPr lang="en-US" dirty="0"/>
              <a:t>, the job finishes faster.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8C4189-1818-4269-BF44-5E1903A50C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915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Parallel Computer Architectures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77866-C6CB-D0DE-986A-3E9C9811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Computer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7E1F-0C60-F1EC-9A56-CB761978B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Parallel computer architecture</a:t>
            </a:r>
            <a:r>
              <a:rPr lang="en-US" dirty="0"/>
              <a:t> is a type of computer design where </a:t>
            </a:r>
            <a:r>
              <a:rPr lang="en-US" b="1" dirty="0"/>
              <a:t>multiple processors (or cores) work at the same time</a:t>
            </a:r>
            <a:r>
              <a:rPr lang="en-US" dirty="0"/>
              <a:t> to solve a problem. Instead of one processor doing all the work step-by-step, the task is </a:t>
            </a:r>
            <a:r>
              <a:rPr lang="en-US" b="1" dirty="0"/>
              <a:t>divided into smaller parts</a:t>
            </a:r>
            <a:r>
              <a:rPr lang="en-US" dirty="0"/>
              <a:t>, and each part is processed </a:t>
            </a:r>
            <a:r>
              <a:rPr lang="en-US" b="1" dirty="0"/>
              <a:t>simultaneously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21120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25AB7-597F-EDBE-3E38-3164FD4AB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parallel architecture?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D8CDD2-DEC7-CED6-0083-F330C2C235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1291" y="2044005"/>
            <a:ext cx="718658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 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handle large and complex problems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performance for data-intensive tasks</a:t>
            </a:r>
          </a:p>
        </p:txBody>
      </p:sp>
    </p:spTree>
    <p:extLst>
      <p:ext uri="{BB962C8B-B14F-4D97-AF65-F5344CB8AC3E}">
        <p14:creationId xmlns:p14="http://schemas.microsoft.com/office/powerpoint/2010/main" val="2210466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is Parallel Computer Architecture?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Uses multiple processors or CPU cores</a:t>
            </a:r>
          </a:p>
          <a:p>
            <a:pPr lvl="1"/>
            <a:r>
              <a:rPr dirty="0"/>
              <a:t>Executes tasks simultaneously</a:t>
            </a:r>
          </a:p>
          <a:p>
            <a:pPr lvl="1"/>
            <a:r>
              <a:rPr dirty="0"/>
              <a:t>Divides problems into smaller parts</a:t>
            </a:r>
          </a:p>
          <a:p>
            <a:pPr lvl="1"/>
            <a:r>
              <a:rPr dirty="0"/>
              <a:t>Improves speed and performance</a:t>
            </a: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Key Idea (Simple)</a:t>
            </a:r>
          </a:p>
          <a:p>
            <a:r>
              <a:rPr lang="en-US" dirty="0"/>
              <a:t>👉 </a:t>
            </a:r>
            <a:r>
              <a:rPr lang="en-US" i="1" dirty="0"/>
              <a:t>One problem → split into many tasks → processed at the same time</a:t>
            </a:r>
            <a:endParaRPr lang="en-US" dirty="0"/>
          </a:p>
          <a:p>
            <a:pPr lvl="1"/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4094D-298B-1136-49F9-8ACEFFE7F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Parallel Computer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02924-51C4-F97F-8FAF-D037DD195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1. SIMD (Single Instruction, Multiple Data)</a:t>
            </a:r>
          </a:p>
          <a:p>
            <a:pPr marL="0" indent="0">
              <a:buNone/>
            </a:pPr>
            <a:r>
              <a:rPr lang="en-US" dirty="0"/>
              <a:t>One instruction is applied to </a:t>
            </a:r>
            <a:r>
              <a:rPr lang="en-US" b="1" dirty="0"/>
              <a:t>many data items at once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Used in graphics and scientific calculations</a:t>
            </a:r>
          </a:p>
          <a:p>
            <a:pPr marL="0" indent="0">
              <a:buNone/>
            </a:pPr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GPUs (Graphics Processing Units)</a:t>
            </a:r>
          </a:p>
          <a:p>
            <a:r>
              <a:rPr lang="en-US" dirty="0"/>
              <a:t>Vector processors</a:t>
            </a:r>
          </a:p>
          <a:p>
            <a:r>
              <a:rPr lang="en-US" dirty="0"/>
              <a:t>Image processing systems</a:t>
            </a:r>
          </a:p>
          <a:p>
            <a:pPr marL="0" indent="0">
              <a:buNone/>
            </a:pPr>
            <a:r>
              <a:rPr lang="en-US" dirty="0"/>
              <a:t>🧠 Example: Adding 10 to </a:t>
            </a:r>
            <a:r>
              <a:rPr lang="en-US" b="1" dirty="0"/>
              <a:t>1,000 numbers at the same time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365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0980D-D06A-B68E-FCA6-807A512EA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1D155-CAD2-E2DB-D798-D1A93F829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2. MIMD (Multiple Instruction, Multiple Data)</a:t>
            </a:r>
          </a:p>
          <a:p>
            <a:pPr marL="0" indent="0">
              <a:buNone/>
            </a:pPr>
            <a:r>
              <a:rPr lang="en-US" dirty="0"/>
              <a:t>Multiple processors run </a:t>
            </a:r>
            <a:r>
              <a:rPr lang="en-US" b="1" dirty="0"/>
              <a:t>different instructions</a:t>
            </a:r>
            <a:r>
              <a:rPr lang="en-US" dirty="0"/>
              <a:t> on </a:t>
            </a:r>
            <a:r>
              <a:rPr lang="en-US" b="1" dirty="0"/>
              <a:t>different data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Most common today</a:t>
            </a:r>
          </a:p>
          <a:p>
            <a:pPr marL="0" indent="0">
              <a:buNone/>
            </a:pPr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Multi-core CPUs (Intel Core i5/i7, AMD Ryzen)</a:t>
            </a:r>
          </a:p>
          <a:p>
            <a:r>
              <a:rPr lang="en-US" dirty="0"/>
              <a:t>Supercomputers</a:t>
            </a:r>
          </a:p>
          <a:p>
            <a:r>
              <a:rPr lang="en-US" dirty="0"/>
              <a:t>Distributed systems</a:t>
            </a:r>
          </a:p>
          <a:p>
            <a:pPr marL="0" indent="0">
              <a:buNone/>
            </a:pPr>
            <a:r>
              <a:rPr lang="en-US" dirty="0"/>
              <a:t>🧠 Example:</a:t>
            </a:r>
            <a:br>
              <a:rPr lang="en-US" dirty="0"/>
            </a:br>
            <a:r>
              <a:rPr lang="en-US" dirty="0"/>
              <a:t>One core runs a browser, another runs music, another runs a game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342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839BC-A085-BB76-586C-D7342C482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E8957-E056-19D6-4828-B3734460B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3. Shared Memory Architecture</a:t>
            </a:r>
          </a:p>
          <a:p>
            <a:pPr marL="0" indent="0">
              <a:buNone/>
            </a:pPr>
            <a:r>
              <a:rPr lang="en-US" dirty="0"/>
              <a:t>All processors share the </a:t>
            </a:r>
            <a:r>
              <a:rPr lang="en-US" b="1" dirty="0"/>
              <a:t>same memory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Easy to communicate, but may cause congestion</a:t>
            </a:r>
          </a:p>
          <a:p>
            <a:pPr marL="0" indent="0">
              <a:buNone/>
            </a:pPr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Multi-core desktop computers</a:t>
            </a:r>
          </a:p>
          <a:p>
            <a:r>
              <a:rPr lang="en-US" dirty="0"/>
              <a:t>Servers with multiple CPUs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007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6DB17-66CA-F8B8-B401-1A5C413AD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F1815-C22A-6E9D-552A-3BB8AE74A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4. Distributed Memory Architecture</a:t>
            </a:r>
          </a:p>
          <a:p>
            <a:pPr marL="0" indent="0">
              <a:buNone/>
            </a:pPr>
            <a:r>
              <a:rPr lang="en-US" dirty="0"/>
              <a:t>Each processor has </a:t>
            </a:r>
            <a:r>
              <a:rPr lang="en-US" b="1" dirty="0"/>
              <a:t>its own private memory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Communication is done via network</a:t>
            </a:r>
          </a:p>
          <a:p>
            <a:pPr marL="0" indent="0">
              <a:buNone/>
            </a:pPr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Computer clusters</a:t>
            </a:r>
          </a:p>
          <a:p>
            <a:r>
              <a:rPr lang="en-US" dirty="0"/>
              <a:t>Cloud computing systems</a:t>
            </a:r>
          </a:p>
          <a:p>
            <a:r>
              <a:rPr lang="en-US" dirty="0"/>
              <a:t>Supercomputers like </a:t>
            </a:r>
            <a:r>
              <a:rPr lang="en-US" b="1" dirty="0"/>
              <a:t>Beowulf clusters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586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6C642-7054-5610-85FA-2B90AFED3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84FAD-DB1F-073F-5A07-D1FEFCAEC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Real-World Examples of Parallel Computers</a:t>
            </a:r>
          </a:p>
          <a:p>
            <a:r>
              <a:rPr lang="en-US" b="1" dirty="0"/>
              <a:t>Modern PCs &amp; laptops</a:t>
            </a:r>
            <a:r>
              <a:rPr lang="en-US" dirty="0"/>
              <a:t> (multi-core processors)</a:t>
            </a:r>
          </a:p>
          <a:p>
            <a:r>
              <a:rPr lang="en-US" b="1" dirty="0"/>
              <a:t>Supercomputers</a:t>
            </a:r>
            <a:r>
              <a:rPr lang="en-US" dirty="0"/>
              <a:t> (weather forecasting, simulations)</a:t>
            </a:r>
          </a:p>
          <a:p>
            <a:r>
              <a:rPr lang="en-US" b="1" dirty="0"/>
              <a:t>GPUs</a:t>
            </a:r>
            <a:r>
              <a:rPr lang="en-US" dirty="0"/>
              <a:t> (gaming, AI, machine learning)</a:t>
            </a:r>
          </a:p>
          <a:p>
            <a:r>
              <a:rPr lang="en-US" b="1" dirty="0"/>
              <a:t>Smartphones</a:t>
            </a:r>
            <a:r>
              <a:rPr lang="en-US" dirty="0"/>
              <a:t> (multiple cores for apps, camera, AI)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1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1485483F5FE40A3F7439926E92E6A" ma:contentTypeVersion="3" ma:contentTypeDescription="Create a new document." ma:contentTypeScope="" ma:versionID="bc4df2c00bb8f37f109f96250d750faf">
  <xsd:schema xmlns:xsd="http://www.w3.org/2001/XMLSchema" xmlns:xs="http://www.w3.org/2001/XMLSchema" xmlns:p="http://schemas.microsoft.com/office/2006/metadata/properties" xmlns:ns2="3cf14926-99d8-4ecd-80fe-5d0a05341b5b" targetNamespace="http://schemas.microsoft.com/office/2006/metadata/properties" ma:root="true" ma:fieldsID="a569b1895d495c538655a882017292d0" ns2:_="">
    <xsd:import namespace="3cf14926-99d8-4ecd-80fe-5d0a05341b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f14926-99d8-4ecd-80fe-5d0a05341b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C76ED5E-3866-4EE5-AE5B-F51E57230BA9}"/>
</file>

<file path=customXml/itemProps2.xml><?xml version="1.0" encoding="utf-8"?>
<ds:datastoreItem xmlns:ds="http://schemas.openxmlformats.org/officeDocument/2006/customXml" ds:itemID="{2412EE06-8604-43E5-93E4-F3CFE12E715B}"/>
</file>

<file path=customXml/itemProps3.xml><?xml version="1.0" encoding="utf-8"?>
<ds:datastoreItem xmlns:ds="http://schemas.openxmlformats.org/officeDocument/2006/customXml" ds:itemID="{AAD8D89F-1440-4B60-BD56-361794AEE1D3}"/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377</Words>
  <Application>Microsoft Office PowerPoint</Application>
  <PresentationFormat>On-screen Show (4:3)</PresentationFormat>
  <Paragraphs>54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Parallel Computer Architectures</vt:lpstr>
      <vt:lpstr>Parallel Computer Architectures</vt:lpstr>
      <vt:lpstr>Why parallel architecture?</vt:lpstr>
      <vt:lpstr>What is Parallel Computer Architecture?</vt:lpstr>
      <vt:lpstr>Types of Parallel Computer Architecture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Lheo</dc:creator>
  <cp:keywords/>
  <dc:description>generated using python-pptx</dc:description>
  <cp:lastModifiedBy>Dave Caballero</cp:lastModifiedBy>
  <cp:revision>2</cp:revision>
  <dcterms:created xsi:type="dcterms:W3CDTF">2013-01-27T09:14:16Z</dcterms:created>
  <dcterms:modified xsi:type="dcterms:W3CDTF">2026-01-31T04:11:32Z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0x01010034D1485483F5FE40A3F7439926E92E6A</vt:lpwstr>
  </property>
</Properties>
</file>