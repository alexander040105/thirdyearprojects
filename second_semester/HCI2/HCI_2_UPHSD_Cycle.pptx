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621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958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754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18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546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197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84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620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1112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74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74544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5071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2495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9464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242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80324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357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58BA7-5077-4865-A2AF-65E26D5358A3}" type="datetimeFigureOut">
              <a:rPr lang="en-PH" smtClean="0"/>
              <a:t>17/01/2026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EE02-54F4-42D1-B9CF-AF06127511E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2481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file:///C:\Users\Fe%20Antonio\Desktop\CCS\Explanation%20of%20the%20Open%20Operating%20System%20Flowchart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Fe%20Antonio\Desktop\CCS\What%20is%20SDLC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1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../../../OneDrive/Documents/Waterfall%20Model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../../../OneDrive/Documents/What%20is%20Agile%20Model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../../../OneDrive/Documents/Explanation%20of%20the%20V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../../../OneDrive/Documents/Spiral%20SDLC%20Model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../../../OneDrive/Documents/Incremental%20SDLC%20Model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../../../OneDrive/Documents/Rapid%20Application%20Development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184" y="94267"/>
            <a:ext cx="7645135" cy="6532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3067" y="650448"/>
            <a:ext cx="2573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 smtClean="0">
                <a:solidFill>
                  <a:schemeClr val="bg1"/>
                </a:solidFill>
              </a:rPr>
              <a:t>Assignment: </a:t>
            </a:r>
            <a:br>
              <a:rPr lang="en-PH" sz="2400" b="1" dirty="0" smtClean="0">
                <a:solidFill>
                  <a:schemeClr val="bg1"/>
                </a:solidFill>
              </a:rPr>
            </a:br>
            <a:r>
              <a:rPr lang="en-PH" sz="2400" b="1" dirty="0" smtClean="0">
                <a:solidFill>
                  <a:schemeClr val="bg1"/>
                </a:solidFill>
              </a:rPr>
              <a:t/>
            </a:r>
            <a:br>
              <a:rPr lang="en-PH" sz="2400" b="1" dirty="0" smtClean="0">
                <a:solidFill>
                  <a:schemeClr val="bg1"/>
                </a:solidFill>
              </a:rPr>
            </a:br>
            <a:r>
              <a:rPr lang="en-PH" sz="2400" b="1" dirty="0" smtClean="0">
                <a:solidFill>
                  <a:schemeClr val="bg1"/>
                </a:solidFill>
              </a:rPr>
              <a:t>Flow Chart: Operating System</a:t>
            </a:r>
            <a:endParaRPr lang="en-PH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91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31216" y="2323410"/>
            <a:ext cx="102940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i="1" dirty="0" smtClean="0">
                <a:solidFill>
                  <a:schemeClr val="bg1"/>
                </a:solidFill>
              </a:rPr>
              <a:t>“If you were building an app today, what would you do first—write code or understand the users?”</a:t>
            </a:r>
            <a:endParaRPr lang="en-PH" sz="4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96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41446"/>
            <a:ext cx="9905998" cy="147857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Step 1: Understanding HCI in the SDLC (Big Picture)</a:t>
            </a:r>
            <a:endParaRPr lang="en-PH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528" y="1825279"/>
            <a:ext cx="11028977" cy="47546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What is SDLC</a:t>
            </a:r>
            <a:r>
              <a:rPr lang="en-US" sz="3600" b="1" dirty="0" smtClean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? </a:t>
            </a:r>
            <a:endParaRPr lang="en-US" sz="3600" b="1" dirty="0">
              <a:solidFill>
                <a:schemeClr val="bg2">
                  <a:lumMod val="50000"/>
                </a:schemeClr>
              </a:solidFill>
              <a:hlinkClick r:id="rId2" action="ppaction://hlinkfile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	Software Development Life Cycle 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(SDLC) 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is the step-by-step process of creating a system:</a:t>
            </a:r>
          </a:p>
          <a:p>
            <a:pPr lvl="1"/>
            <a:r>
              <a:rPr lang="en-US" sz="3200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Requirements Analysis</a:t>
            </a:r>
          </a:p>
          <a:p>
            <a:pPr lvl="1"/>
            <a:r>
              <a:rPr lang="en-US" sz="3200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Design</a:t>
            </a:r>
          </a:p>
          <a:p>
            <a:pPr lvl="1"/>
            <a:r>
              <a:rPr lang="en-US" sz="3200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Development</a:t>
            </a:r>
          </a:p>
          <a:p>
            <a:pPr lvl="1"/>
            <a:r>
              <a:rPr lang="en-US" sz="3200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Testing</a:t>
            </a:r>
          </a:p>
          <a:p>
            <a:pPr lvl="1"/>
            <a:r>
              <a:rPr lang="en-US" sz="3200" dirty="0">
                <a:solidFill>
                  <a:schemeClr val="bg2">
                    <a:lumMod val="50000"/>
                  </a:schemeClr>
                </a:solidFill>
                <a:hlinkClick r:id="rId2" action="ppaction://hlinkfile"/>
              </a:rPr>
              <a:t>Deployment &amp; Maintenance</a:t>
            </a:r>
          </a:p>
          <a:p>
            <a:pPr marL="0" indent="0">
              <a:buNone/>
            </a:pPr>
            <a:endParaRPr lang="en-PH" dirty="0">
              <a:hlinkClick r:id="rId2" action="ppaction://hlinkfile"/>
            </a:endParaRPr>
          </a:p>
        </p:txBody>
      </p:sp>
    </p:spTree>
    <p:extLst>
      <p:ext uri="{BB962C8B-B14F-4D97-AF65-F5344CB8AC3E}">
        <p14:creationId xmlns:p14="http://schemas.microsoft.com/office/powerpoint/2010/main" val="150030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97" y="984613"/>
            <a:ext cx="11416770" cy="53124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62847" y="190049"/>
            <a:ext cx="821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800" b="1" dirty="0">
                <a:solidFill>
                  <a:srgbClr val="273239"/>
                </a:solidFill>
                <a:latin typeface="Nunito"/>
              </a:rPr>
              <a:t>Stages of the Software Development Life Cycle</a:t>
            </a:r>
            <a:endParaRPr lang="en-US" sz="2800" b="1" i="0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22178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1554" y="402526"/>
            <a:ext cx="1078112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b="1" dirty="0">
                <a:solidFill>
                  <a:srgbClr val="273239"/>
                </a:solidFill>
                <a:latin typeface="Nunito"/>
              </a:rPr>
              <a:t>Software Development Life Cycle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Models</a:t>
            </a:r>
          </a:p>
          <a:p>
            <a:pPr fontAlgn="base"/>
            <a:endParaRPr lang="en-US" sz="2800" b="1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US" sz="2800" dirty="0" smtClean="0">
                <a:solidFill>
                  <a:srgbClr val="273239"/>
                </a:solidFill>
                <a:latin typeface="Nunito"/>
              </a:rPr>
              <a:t>	Software </a:t>
            </a:r>
            <a:r>
              <a:rPr lang="en-US" sz="2800" dirty="0">
                <a:solidFill>
                  <a:srgbClr val="273239"/>
                </a:solidFill>
                <a:latin typeface="Nunito"/>
              </a:rPr>
              <a:t>Development Models are structured frameworks that guide the planning, execution, and delivery of software projects. They define the </a:t>
            </a:r>
            <a:r>
              <a:rPr lang="en-US" sz="2800" b="1" dirty="0">
                <a:solidFill>
                  <a:srgbClr val="273239"/>
                </a:solidFill>
                <a:latin typeface="Nunito"/>
              </a:rPr>
              <a:t>sequence of development stages</a:t>
            </a:r>
            <a:r>
              <a:rPr lang="en-US" sz="2800" dirty="0">
                <a:solidFill>
                  <a:srgbClr val="273239"/>
                </a:solidFill>
                <a:latin typeface="Nunito"/>
              </a:rPr>
              <a:t>, such as requirements, design, coding, testing, and deployment.</a:t>
            </a:r>
            <a:endParaRPr lang="en-US" sz="2800" b="0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15502" y="3080182"/>
            <a:ext cx="868837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2800" b="1" dirty="0">
                <a:solidFill>
                  <a:schemeClr val="bg1"/>
                </a:solidFill>
              </a:rPr>
              <a:t>Common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800" dirty="0">
                <a:solidFill>
                  <a:schemeClr val="bg1"/>
                </a:solidFill>
                <a:hlinkClick r:id="rId2" action="ppaction://hlinksldjump"/>
              </a:rPr>
              <a:t>Waterfall Model</a:t>
            </a:r>
            <a:endParaRPr lang="en-PH" sz="28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800" dirty="0">
                <a:solidFill>
                  <a:schemeClr val="bg1"/>
                </a:solidFill>
                <a:hlinkClick r:id="rId3" action="ppaction://hlinksldjump"/>
              </a:rPr>
              <a:t>Agile Model</a:t>
            </a:r>
            <a:endParaRPr lang="en-PH" sz="28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800" dirty="0">
                <a:solidFill>
                  <a:schemeClr val="bg1"/>
                </a:solidFill>
                <a:hlinkClick r:id="rId4" action="ppaction://hlinksldjump"/>
              </a:rPr>
              <a:t>V-Model</a:t>
            </a:r>
            <a:endParaRPr lang="en-PH" sz="28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800" dirty="0">
                <a:solidFill>
                  <a:schemeClr val="bg1"/>
                </a:solidFill>
                <a:hlinkClick r:id="rId5" action="ppaction://hlinksldjump"/>
              </a:rPr>
              <a:t>Spiral Model</a:t>
            </a:r>
            <a:endParaRPr lang="en-PH" sz="28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800" dirty="0">
                <a:solidFill>
                  <a:schemeClr val="bg1"/>
                </a:solidFill>
                <a:hlinkClick r:id="rId6" action="ppaction://hlinksldjump"/>
              </a:rPr>
              <a:t>Incremental Model</a:t>
            </a:r>
            <a:endParaRPr lang="en-PH" sz="28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PH" sz="2800" dirty="0">
                <a:solidFill>
                  <a:schemeClr val="bg1"/>
                </a:solidFill>
                <a:hlinkClick r:id="rId7" action="ppaction://hlinksldjump"/>
              </a:rPr>
              <a:t>RAD Model</a:t>
            </a:r>
            <a:endParaRPr lang="en-PH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0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01" y="197964"/>
            <a:ext cx="11236751" cy="63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9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hlinkClick r:id="rId2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8034" y="158324"/>
            <a:ext cx="9879290" cy="640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0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hlinkClick r:id="rId2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3897" y="273377"/>
            <a:ext cx="8191892" cy="62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6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hlinkClick r:id="rId2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0713" y="282803"/>
            <a:ext cx="8220174" cy="634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7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hlinkClick r:id="rId2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4718" y="122548"/>
            <a:ext cx="10840823" cy="657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3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hlinkClick r:id="rId2" action="ppaction://hlinkfile"/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0999" y="156737"/>
            <a:ext cx="10647409" cy="660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4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573" y="-1"/>
            <a:ext cx="11908427" cy="57786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2">
                    <a:lumMod val="50000"/>
                  </a:schemeClr>
                </a:solidFill>
              </a:rPr>
              <a:t>Example: Online Enrollment System</a:t>
            </a:r>
          </a:p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Questions asked:</a:t>
            </a:r>
          </a:p>
          <a:p>
            <a:pPr lvl="1"/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Who are the users? </a:t>
            </a:r>
            <a:endParaRPr lang="en-US" sz="3600" dirty="0" smtClean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</a:rPr>
              <a:t>What 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should students be able to do?</a:t>
            </a:r>
          </a:p>
          <a:p>
            <a:pPr lvl="2"/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Log in</a:t>
            </a:r>
          </a:p>
          <a:p>
            <a:pPr lvl="2"/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Enroll subjects</a:t>
            </a:r>
          </a:p>
          <a:p>
            <a:pPr lvl="2"/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View tuition fees</a:t>
            </a:r>
          </a:p>
          <a:p>
            <a:r>
              <a:rPr lang="en-US" sz="3600" dirty="0"/>
              <a:t>📌 </a:t>
            </a:r>
            <a:r>
              <a:rPr lang="en-US" sz="3600" b="1" dirty="0"/>
              <a:t>Output of this phase: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A list of </a:t>
            </a:r>
            <a:r>
              <a:rPr lang="en-US" sz="3600" b="1" dirty="0"/>
              <a:t>requirements</a:t>
            </a:r>
            <a:r>
              <a:rPr lang="en-US" sz="3600" dirty="0"/>
              <a:t> (functional and usability).</a:t>
            </a:r>
          </a:p>
          <a:p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389280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6180" y="141402"/>
            <a:ext cx="1130273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Laboratory Exercise </a:t>
            </a:r>
            <a:r>
              <a:rPr lang="en-US" sz="2800" b="1" dirty="0" smtClean="0"/>
              <a:t>1: </a:t>
            </a:r>
            <a:r>
              <a:rPr lang="en-US" sz="2800" b="1" dirty="0"/>
              <a:t>SDLC Application – Case Study (Group Activity)</a:t>
            </a:r>
          </a:p>
          <a:p>
            <a:r>
              <a:rPr lang="en-US" sz="2800" b="1" dirty="0"/>
              <a:t>Objective: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	Students </a:t>
            </a:r>
            <a:r>
              <a:rPr lang="en-US" sz="2800" dirty="0"/>
              <a:t>will apply an SDLC model to a real-world system scenario.</a:t>
            </a:r>
          </a:p>
          <a:p>
            <a:r>
              <a:rPr lang="en-US" sz="2800" b="1" dirty="0"/>
              <a:t>Scenario: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	Your </a:t>
            </a:r>
            <a:r>
              <a:rPr lang="en-US" sz="2800" dirty="0"/>
              <a:t>team is tasked to develop a </a:t>
            </a:r>
            <a:r>
              <a:rPr lang="en-US" sz="2800" b="1" dirty="0"/>
              <a:t>Student Attendance Monitoring System</a:t>
            </a:r>
            <a:r>
              <a:rPr lang="en-US" sz="2800" dirty="0"/>
              <a:t> for your college.</a:t>
            </a:r>
          </a:p>
          <a:p>
            <a:r>
              <a:rPr lang="en-US" sz="2800" b="1" dirty="0"/>
              <a:t>Instructions: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dirty="0"/>
              <a:t>Choose </a:t>
            </a:r>
            <a:r>
              <a:rPr lang="en-US" sz="2800" b="1" dirty="0"/>
              <a:t>one SDLC model</a:t>
            </a:r>
            <a:r>
              <a:rPr lang="en-US" sz="2800" dirty="0"/>
              <a:t> (e.g., Waterfall or Agile).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Apply the chosen model by answering the following: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Requirements: What features are needed?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Design: What will the system look like? (simple diagram or description)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Development: What programming language/tools will be used?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Testing: How will the system be tested?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Deployment &amp; Maintenance: How will it be released and maintained?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Prepare a </a:t>
            </a:r>
            <a:r>
              <a:rPr lang="en-US" sz="2800" b="1" dirty="0"/>
              <a:t>5–7 slide presentation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53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863" y="857839"/>
            <a:ext cx="9905999" cy="478253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Expected Output:</a:t>
            </a:r>
            <a:r>
              <a:rPr lang="en-US" sz="3200" dirty="0">
                <a:solidFill>
                  <a:schemeClr val="bg1"/>
                </a:solidFill>
              </a:rPr>
              <a:t/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Group presentation explaining the SDLC application.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Assessment Criteria:</a:t>
            </a:r>
            <a:endParaRPr lang="en-US" sz="3200" dirty="0">
              <a:solidFill>
                <a:schemeClr val="bg1"/>
              </a:solidFill>
            </a:endParaRP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Proper use of SDLC model (40%)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Completeness of phases (30%)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Presentation clarity (20%)</a:t>
            </a:r>
          </a:p>
          <a:p>
            <a:pPr lvl="1"/>
            <a:r>
              <a:rPr lang="en-US" sz="2800" dirty="0" smtClean="0">
                <a:solidFill>
                  <a:schemeClr val="bg1"/>
                </a:solidFill>
              </a:rPr>
              <a:t>Team </a:t>
            </a:r>
            <a:r>
              <a:rPr lang="en-US" sz="2800" dirty="0">
                <a:solidFill>
                  <a:schemeClr val="bg1"/>
                </a:solidFill>
              </a:rPr>
              <a:t>participation (10%)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2513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675</TotalTime>
  <Words>115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Nunito</vt:lpstr>
      <vt:lpstr>Trebuchet MS</vt:lpstr>
      <vt:lpstr>Tw Cen MT</vt:lpstr>
      <vt:lpstr>Circuit</vt:lpstr>
      <vt:lpstr>PowerPoint Presentation</vt:lpstr>
      <vt:lpstr>PowerPoint Presentation</vt:lpstr>
      <vt:lpstr>Step 1: Understanding HCI in the SDLC (Big Picture)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 Antonio</dc:creator>
  <cp:lastModifiedBy>Fe Antonio</cp:lastModifiedBy>
  <cp:revision>18</cp:revision>
  <dcterms:created xsi:type="dcterms:W3CDTF">2026-01-11T13:09:44Z</dcterms:created>
  <dcterms:modified xsi:type="dcterms:W3CDTF">2026-01-17T04:22:18Z</dcterms:modified>
</cp:coreProperties>
</file>