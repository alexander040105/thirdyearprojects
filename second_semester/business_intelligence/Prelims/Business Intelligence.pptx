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63" r:id="rId5"/>
    <p:sldId id="264" r:id="rId6"/>
    <p:sldId id="259" r:id="rId7"/>
    <p:sldId id="261" r:id="rId8"/>
    <p:sldId id="269" r:id="rId9"/>
    <p:sldId id="270" r:id="rId10"/>
    <p:sldId id="257" r:id="rId11"/>
    <p:sldId id="271" r:id="rId12"/>
    <p:sldId id="267" r:id="rId13"/>
    <p:sldId id="272" r:id="rId14"/>
    <p:sldId id="273" r:id="rId15"/>
    <p:sldId id="265" r:id="rId16"/>
    <p:sldId id="258" r:id="rId17"/>
    <p:sldId id="274"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0" d="100"/>
          <a:sy n="70" d="100"/>
        </p:scale>
        <p:origin x="6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95E5-4352-2535-BBA4-0B6F7AB663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640F6A-3869-3123-BD43-982A7A3FEE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C37040-CE36-3D6B-1D2D-61C2125FCC61}"/>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5" name="Footer Placeholder 4">
            <a:extLst>
              <a:ext uri="{FF2B5EF4-FFF2-40B4-BE49-F238E27FC236}">
                <a16:creationId xmlns:a16="http://schemas.microsoft.com/office/drawing/2014/main" id="{8B8389D8-C018-999A-0C77-3317B37808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8F9CD0-65BA-7388-625E-64AE0F50DCFA}"/>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2178406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A97D-D522-BB26-537B-BD805CE03F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258691-D286-5D2D-B9B3-23302E3AE3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F87C9E-D82B-92A8-306F-EB839A703596}"/>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5" name="Footer Placeholder 4">
            <a:extLst>
              <a:ext uri="{FF2B5EF4-FFF2-40B4-BE49-F238E27FC236}">
                <a16:creationId xmlns:a16="http://schemas.microsoft.com/office/drawing/2014/main" id="{8902A6B3-20EE-A8C6-68F7-78E02B4D3B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FFCEAD-A4EB-0389-767E-7BEFBE6A3CFF}"/>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2361958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F2B48-4D30-DDD3-2B00-E7257C2228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4F72AF-04F0-88FC-DD99-D5A3587ED0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4AB0BB-B958-EB9F-873E-9EAAD3F25864}"/>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5" name="Footer Placeholder 4">
            <a:extLst>
              <a:ext uri="{FF2B5EF4-FFF2-40B4-BE49-F238E27FC236}">
                <a16:creationId xmlns:a16="http://schemas.microsoft.com/office/drawing/2014/main" id="{C99A7959-E041-7BE2-D23E-B9A09AFB44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81A16-7B46-D2C6-603B-D61BE9D63CE7}"/>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3526876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A8EBE-4B96-7DF2-58E1-3982DEA66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5BEB8B-CB45-34B0-21CE-7E8C55DA5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A0CFBA-7F38-53F1-FD07-052904036A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A08C97-590A-84C2-FD7D-53FB07ADB35A}"/>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6" name="Footer Placeholder 5">
            <a:extLst>
              <a:ext uri="{FF2B5EF4-FFF2-40B4-BE49-F238E27FC236}">
                <a16:creationId xmlns:a16="http://schemas.microsoft.com/office/drawing/2014/main" id="{800933FE-041B-4D8E-93DE-709F2CA52A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411BF0-3DF0-297F-3620-9323CB9EDB5E}"/>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1315432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8465-F24E-BAC3-D7C8-70A9625581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A3EAF3-0612-8FF9-2832-E1CE6DF6A0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B45A80-9D11-B567-9803-65F4445099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317E3C-5DB7-FC1F-7AC3-3A4A0ECBBE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4FE3DC-8086-898C-D512-C7D0E19A01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437F26-D1DD-5BF6-DFF8-EDAEAAA97487}"/>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8" name="Footer Placeholder 7">
            <a:extLst>
              <a:ext uri="{FF2B5EF4-FFF2-40B4-BE49-F238E27FC236}">
                <a16:creationId xmlns:a16="http://schemas.microsoft.com/office/drawing/2014/main" id="{636B1C48-F759-7447-9AB3-A329B9CBBF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DF96B7-D9C6-9561-9B56-D1FF3D94A16D}"/>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3051622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40E6-4A1E-2B2E-6D7A-5EC75B4CE1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6D2098-6044-4529-4A7A-62905E2EB7BD}"/>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4" name="Footer Placeholder 3">
            <a:extLst>
              <a:ext uri="{FF2B5EF4-FFF2-40B4-BE49-F238E27FC236}">
                <a16:creationId xmlns:a16="http://schemas.microsoft.com/office/drawing/2014/main" id="{885F4227-6E83-469D-ED88-E2A2058E16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3D32E4-488D-5F77-AE4C-0C5384E33C00}"/>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4237870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05FDB9-D82A-D7CF-0D68-0B4AE7A9CB9C}"/>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3" name="Footer Placeholder 2">
            <a:extLst>
              <a:ext uri="{FF2B5EF4-FFF2-40B4-BE49-F238E27FC236}">
                <a16:creationId xmlns:a16="http://schemas.microsoft.com/office/drawing/2014/main" id="{2A36F366-CC47-BF6A-EF8A-C3AA747B02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F372FC-BE89-A08C-5A1C-D15749EA5D75}"/>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1983294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06B99-B2E9-4179-298C-DF75B57D55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AD81C7-1350-59F8-E05A-27BF5E68CC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405700-4DE5-D374-D643-EA5FBDFA43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21999-7CC0-055E-11B3-1AEFFC85848C}"/>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6" name="Footer Placeholder 5">
            <a:extLst>
              <a:ext uri="{FF2B5EF4-FFF2-40B4-BE49-F238E27FC236}">
                <a16:creationId xmlns:a16="http://schemas.microsoft.com/office/drawing/2014/main" id="{DD43B09C-7536-10FB-4852-EBBD1318C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806597-3B09-A9FD-BBDC-0E39FD4F7256}"/>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888031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6FA75-3452-EDE7-6C7B-BD9F09AB81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E7150C-79AD-C80F-048B-6F474527D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A2F68-C46D-7316-24DC-5CF9764B61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484BEE-3E1F-396E-88FF-C2C84AB85928}"/>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6" name="Footer Placeholder 5">
            <a:extLst>
              <a:ext uri="{FF2B5EF4-FFF2-40B4-BE49-F238E27FC236}">
                <a16:creationId xmlns:a16="http://schemas.microsoft.com/office/drawing/2014/main" id="{27F562A9-669A-86C3-6D19-86B6CB5B8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241591-32DB-D6E0-611A-39824E68951C}"/>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73296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706B8-2A4F-6B68-E024-3D70866018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AE70F4-00EE-81DA-9D52-F3A551236A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D5AD0-1A50-83DC-E3CE-935C19C254EF}"/>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5" name="Footer Placeholder 4">
            <a:extLst>
              <a:ext uri="{FF2B5EF4-FFF2-40B4-BE49-F238E27FC236}">
                <a16:creationId xmlns:a16="http://schemas.microsoft.com/office/drawing/2014/main" id="{F092150D-27F8-B5B4-FA11-65668C1D11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347FC-B20E-D644-F355-651EA01D61D1}"/>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1947547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EAAE5-8396-9163-B9FE-BC83AD133B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94E9BF-4EAF-D7BA-2E37-5E31D5F3E0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6E883-00F6-C441-FE8D-72982506D13A}"/>
              </a:ext>
            </a:extLst>
          </p:cNvPr>
          <p:cNvSpPr>
            <a:spLocks noGrp="1"/>
          </p:cNvSpPr>
          <p:nvPr>
            <p:ph type="dt" sz="half" idx="10"/>
          </p:nvPr>
        </p:nvSpPr>
        <p:spPr/>
        <p:txBody>
          <a:bodyPr/>
          <a:lstStyle/>
          <a:p>
            <a:fld id="{FDA34D7D-073E-462D-BDAE-161AA607AC06}" type="datetimeFigureOut">
              <a:rPr lang="en-US" smtClean="0"/>
              <a:t>1/17/2026</a:t>
            </a:fld>
            <a:endParaRPr lang="en-US"/>
          </a:p>
        </p:txBody>
      </p:sp>
      <p:sp>
        <p:nvSpPr>
          <p:cNvPr id="5" name="Footer Placeholder 4">
            <a:extLst>
              <a:ext uri="{FF2B5EF4-FFF2-40B4-BE49-F238E27FC236}">
                <a16:creationId xmlns:a16="http://schemas.microsoft.com/office/drawing/2014/main" id="{3AF5C187-DB5F-B687-FB50-6563CC2D3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AC311C-4486-6EBA-DDA9-5EC084573BC1}"/>
              </a:ext>
            </a:extLst>
          </p:cNvPr>
          <p:cNvSpPr>
            <a:spLocks noGrp="1"/>
          </p:cNvSpPr>
          <p:nvPr>
            <p:ph type="sldNum" sz="quarter" idx="12"/>
          </p:nvPr>
        </p:nvSpPr>
        <p:spPr/>
        <p:txBody>
          <a:bodyPr/>
          <a:lstStyle/>
          <a:p>
            <a:fld id="{DC378DA7-0A45-47C3-8085-47DAEB41C9EC}" type="slidenum">
              <a:rPr lang="en-US" smtClean="0"/>
              <a:t>‹#›</a:t>
            </a:fld>
            <a:endParaRPr lang="en-US"/>
          </a:p>
        </p:txBody>
      </p:sp>
    </p:spTree>
    <p:extLst>
      <p:ext uri="{BB962C8B-B14F-4D97-AF65-F5344CB8AC3E}">
        <p14:creationId xmlns:p14="http://schemas.microsoft.com/office/powerpoint/2010/main" val="2182743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C10DC4-4F49-913F-AAD8-F16AF5DDAF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640DB0-6F12-6EF5-04C4-50A661A47B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1C3CED-A802-F0AC-162C-7ED61BDDF6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A34D7D-073E-462D-BDAE-161AA607AC06}" type="datetimeFigureOut">
              <a:rPr lang="en-US" smtClean="0"/>
              <a:t>1/17/2026</a:t>
            </a:fld>
            <a:endParaRPr lang="en-US"/>
          </a:p>
        </p:txBody>
      </p:sp>
      <p:sp>
        <p:nvSpPr>
          <p:cNvPr id="5" name="Footer Placeholder 4">
            <a:extLst>
              <a:ext uri="{FF2B5EF4-FFF2-40B4-BE49-F238E27FC236}">
                <a16:creationId xmlns:a16="http://schemas.microsoft.com/office/drawing/2014/main" id="{7B6E33DD-AF7B-4BC3-C4EE-C9FCC18F8D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83228E-732E-23DF-7DB2-5FDE8F01E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378DA7-0A45-47C3-8085-47DAEB41C9EC}" type="slidenum">
              <a:rPr lang="en-US" smtClean="0"/>
              <a:t>‹#›</a:t>
            </a:fld>
            <a:endParaRPr lang="en-US"/>
          </a:p>
        </p:txBody>
      </p:sp>
    </p:spTree>
    <p:extLst>
      <p:ext uri="{BB962C8B-B14F-4D97-AF65-F5344CB8AC3E}">
        <p14:creationId xmlns:p14="http://schemas.microsoft.com/office/powerpoint/2010/main" val="1262010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251A5-0857-E3A3-4A50-5F85D57AE2FB}"/>
              </a:ext>
            </a:extLst>
          </p:cNvPr>
          <p:cNvSpPr>
            <a:spLocks noGrp="1"/>
          </p:cNvSpPr>
          <p:nvPr>
            <p:ph type="ctrTitle"/>
          </p:nvPr>
        </p:nvSpPr>
        <p:spPr/>
        <p:txBody>
          <a:bodyPr/>
          <a:lstStyle/>
          <a:p>
            <a:r>
              <a:rPr lang="en-US" dirty="0"/>
              <a:t>Business Intelligence</a:t>
            </a:r>
          </a:p>
        </p:txBody>
      </p:sp>
      <p:sp>
        <p:nvSpPr>
          <p:cNvPr id="3" name="Subtitle 2">
            <a:extLst>
              <a:ext uri="{FF2B5EF4-FFF2-40B4-BE49-F238E27FC236}">
                <a16:creationId xmlns:a16="http://schemas.microsoft.com/office/drawing/2014/main" id="{89A73716-88CF-09AF-B0B4-FE751403799E}"/>
              </a:ext>
            </a:extLst>
          </p:cNvPr>
          <p:cNvSpPr>
            <a:spLocks noGrp="1"/>
          </p:cNvSpPr>
          <p:nvPr>
            <p:ph type="subTitle" idx="1"/>
          </p:nvPr>
        </p:nvSpPr>
        <p:spPr/>
        <p:txBody>
          <a:bodyPr/>
          <a:lstStyle/>
          <a:p>
            <a:r>
              <a:rPr lang="en-US" dirty="0"/>
              <a:t>9415-AY225-BSCS 3216</a:t>
            </a:r>
          </a:p>
        </p:txBody>
      </p:sp>
    </p:spTree>
    <p:extLst>
      <p:ext uri="{BB962C8B-B14F-4D97-AF65-F5344CB8AC3E}">
        <p14:creationId xmlns:p14="http://schemas.microsoft.com/office/powerpoint/2010/main" val="453305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2740-5ED3-F91F-7FDE-1A6F8F6A092B}"/>
              </a:ext>
            </a:extLst>
          </p:cNvPr>
          <p:cNvSpPr>
            <a:spLocks noGrp="1"/>
          </p:cNvSpPr>
          <p:nvPr>
            <p:ph type="title"/>
          </p:nvPr>
        </p:nvSpPr>
        <p:spPr/>
        <p:txBody>
          <a:bodyPr/>
          <a:lstStyle/>
          <a:p>
            <a:r>
              <a:rPr lang="en-US" dirty="0"/>
              <a:t>Course Objectives (Business </a:t>
            </a:r>
            <a:r>
              <a:rPr lang="en-US" dirty="0" err="1"/>
              <a:t>Intelligenc</a:t>
            </a:r>
            <a:r>
              <a:rPr lang="en-US" dirty="0"/>
              <a:t>)</a:t>
            </a:r>
          </a:p>
        </p:txBody>
      </p:sp>
      <p:sp>
        <p:nvSpPr>
          <p:cNvPr id="3" name="Content Placeholder 2">
            <a:extLst>
              <a:ext uri="{FF2B5EF4-FFF2-40B4-BE49-F238E27FC236}">
                <a16:creationId xmlns:a16="http://schemas.microsoft.com/office/drawing/2014/main" id="{B2860A4E-E2D6-0FEE-8DB2-42AF181940B6}"/>
              </a:ext>
            </a:extLst>
          </p:cNvPr>
          <p:cNvSpPr>
            <a:spLocks noGrp="1"/>
          </p:cNvSpPr>
          <p:nvPr>
            <p:ph idx="1"/>
          </p:nvPr>
        </p:nvSpPr>
        <p:spPr/>
        <p:txBody>
          <a:bodyPr>
            <a:normAutofit fontScale="92500" lnSpcReduction="10000"/>
          </a:bodyPr>
          <a:lstStyle/>
          <a:p>
            <a:r>
              <a:rPr lang="en-US" dirty="0"/>
              <a:t>Develop students’ understanding of Business Intelligence concepts, architectures, and processes for data-driven decision-making.</a:t>
            </a:r>
          </a:p>
          <a:p>
            <a:r>
              <a:rPr lang="en-US" dirty="0"/>
              <a:t>Equip students with skills in data collection, integration, transformation, and analysis using BI tools and techniques.</a:t>
            </a:r>
          </a:p>
          <a:p>
            <a:r>
              <a:rPr lang="en-US" dirty="0"/>
              <a:t>Enable students to design and implement dashboards, reports, and analytical models that support organizational strategies.</a:t>
            </a:r>
          </a:p>
          <a:p>
            <a:r>
              <a:rPr lang="en-US" dirty="0"/>
              <a:t>Promote critical thinking in interpreting data insights for managerial, operational, and strategic decision-making.</a:t>
            </a:r>
          </a:p>
          <a:p>
            <a:r>
              <a:rPr lang="en-US" dirty="0"/>
              <a:t>Foster ethical, responsible, and professional handling of data, ensuring data quality, security, and compliance with organizational and legal standards.</a:t>
            </a:r>
          </a:p>
        </p:txBody>
      </p:sp>
    </p:spTree>
    <p:extLst>
      <p:ext uri="{BB962C8B-B14F-4D97-AF65-F5344CB8AC3E}">
        <p14:creationId xmlns:p14="http://schemas.microsoft.com/office/powerpoint/2010/main" val="1552298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A4BBF-8D8B-4CE1-1C58-D93B539206A6}"/>
              </a:ext>
            </a:extLst>
          </p:cNvPr>
          <p:cNvSpPr>
            <a:spLocks noGrp="1"/>
          </p:cNvSpPr>
          <p:nvPr>
            <p:ph type="title"/>
          </p:nvPr>
        </p:nvSpPr>
        <p:spPr/>
        <p:txBody>
          <a:bodyPr/>
          <a:lstStyle/>
          <a:p>
            <a:r>
              <a:rPr lang="en-US" b="1" dirty="0"/>
              <a:t>Lesson Learning Outcomes:</a:t>
            </a:r>
            <a:endParaRPr lang="en-US" dirty="0"/>
          </a:p>
        </p:txBody>
      </p:sp>
      <p:sp>
        <p:nvSpPr>
          <p:cNvPr id="3" name="Content Placeholder 2">
            <a:extLst>
              <a:ext uri="{FF2B5EF4-FFF2-40B4-BE49-F238E27FC236}">
                <a16:creationId xmlns:a16="http://schemas.microsoft.com/office/drawing/2014/main" id="{05C8C54C-D479-25A2-3B36-6024323D1D0E}"/>
              </a:ext>
            </a:extLst>
          </p:cNvPr>
          <p:cNvSpPr>
            <a:spLocks noGrp="1"/>
          </p:cNvSpPr>
          <p:nvPr>
            <p:ph idx="1"/>
          </p:nvPr>
        </p:nvSpPr>
        <p:spPr/>
        <p:txBody>
          <a:bodyPr>
            <a:normAutofit/>
          </a:bodyPr>
          <a:lstStyle/>
          <a:p>
            <a:r>
              <a:rPr lang="en-US" dirty="0"/>
              <a:t>Week 1 – Introduction to Business Intelligence</a:t>
            </a:r>
          </a:p>
          <a:p>
            <a:r>
              <a:rPr lang="en-US" dirty="0"/>
              <a:t>Week 2 – BI Architecture and Components</a:t>
            </a:r>
          </a:p>
          <a:p>
            <a:r>
              <a:rPr lang="en-US" dirty="0"/>
              <a:t>Week 3 – Data Sources and Data Types</a:t>
            </a:r>
          </a:p>
          <a:p>
            <a:r>
              <a:rPr lang="en-US" dirty="0"/>
              <a:t>Week 4 – Data Warehousing Concepts</a:t>
            </a:r>
          </a:p>
          <a:p>
            <a:r>
              <a:rPr lang="en-US" dirty="0"/>
              <a:t>Week 5 – Dimensional Modeling</a:t>
            </a:r>
          </a:p>
          <a:p>
            <a:r>
              <a:rPr lang="en-US" dirty="0"/>
              <a:t>Week 6 – Prelim Assessment</a:t>
            </a:r>
          </a:p>
          <a:p>
            <a:r>
              <a:rPr lang="en-US" dirty="0"/>
              <a:t>Week 7 – ETL (Extract, Transform, Load) Processes</a:t>
            </a:r>
          </a:p>
          <a:p>
            <a:r>
              <a:rPr lang="en-US" dirty="0"/>
              <a:t>Week 8 – Data Quality and Data Cleaning</a:t>
            </a:r>
          </a:p>
          <a:p>
            <a:endParaRPr lang="en-US" dirty="0"/>
          </a:p>
          <a:p>
            <a:pPr lvl="1"/>
            <a:endParaRPr lang="en-US" dirty="0"/>
          </a:p>
        </p:txBody>
      </p:sp>
    </p:spTree>
    <p:extLst>
      <p:ext uri="{BB962C8B-B14F-4D97-AF65-F5344CB8AC3E}">
        <p14:creationId xmlns:p14="http://schemas.microsoft.com/office/powerpoint/2010/main" val="1925596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F115-7E9E-1320-ADD3-64F64E5858E1}"/>
              </a:ext>
            </a:extLst>
          </p:cNvPr>
          <p:cNvSpPr>
            <a:spLocks noGrp="1"/>
          </p:cNvSpPr>
          <p:nvPr>
            <p:ph type="title"/>
          </p:nvPr>
        </p:nvSpPr>
        <p:spPr/>
        <p:txBody>
          <a:bodyPr/>
          <a:lstStyle/>
          <a:p>
            <a:r>
              <a:rPr lang="en-US" b="1" dirty="0"/>
              <a:t>Lesson Learning Outcomes:</a:t>
            </a:r>
            <a:endParaRPr lang="en-US" dirty="0"/>
          </a:p>
        </p:txBody>
      </p:sp>
      <p:sp>
        <p:nvSpPr>
          <p:cNvPr id="3" name="Content Placeholder 2">
            <a:extLst>
              <a:ext uri="{FF2B5EF4-FFF2-40B4-BE49-F238E27FC236}">
                <a16:creationId xmlns:a16="http://schemas.microsoft.com/office/drawing/2014/main" id="{4625CC73-A9A7-8ABC-0533-070F69AB57D9}"/>
              </a:ext>
            </a:extLst>
          </p:cNvPr>
          <p:cNvSpPr>
            <a:spLocks noGrp="1"/>
          </p:cNvSpPr>
          <p:nvPr>
            <p:ph idx="1"/>
          </p:nvPr>
        </p:nvSpPr>
        <p:spPr/>
        <p:txBody>
          <a:bodyPr/>
          <a:lstStyle/>
          <a:p>
            <a:r>
              <a:rPr lang="en-US" dirty="0"/>
              <a:t>Week 9 – Descriptive Analytics</a:t>
            </a:r>
          </a:p>
          <a:p>
            <a:r>
              <a:rPr lang="en-US" dirty="0"/>
              <a:t>Week 10 – Data Visualization Principles</a:t>
            </a:r>
          </a:p>
          <a:p>
            <a:r>
              <a:rPr lang="en-US" dirty="0"/>
              <a:t>Week 11 – BI Tools and Dashboards</a:t>
            </a:r>
          </a:p>
          <a:p>
            <a:r>
              <a:rPr lang="en-US" dirty="0"/>
              <a:t>Week 12 – OLAP and Multidimensional Analysis</a:t>
            </a:r>
          </a:p>
          <a:p>
            <a:r>
              <a:rPr lang="en-US" dirty="0"/>
              <a:t>Week 13 – Predictive and Prescriptive Analytics (Overview)</a:t>
            </a:r>
          </a:p>
          <a:p>
            <a:r>
              <a:rPr lang="en-US" dirty="0"/>
              <a:t>Week 14 – BI for Decision Support</a:t>
            </a:r>
          </a:p>
          <a:p>
            <a:r>
              <a:rPr lang="en-US" dirty="0"/>
              <a:t>Week 15 – Ethics, Privacy, and Data Governance</a:t>
            </a:r>
          </a:p>
          <a:p>
            <a:r>
              <a:rPr lang="en-US" dirty="0"/>
              <a:t>Week 16 – BI Project Development</a:t>
            </a:r>
          </a:p>
        </p:txBody>
      </p:sp>
    </p:spTree>
    <p:extLst>
      <p:ext uri="{BB962C8B-B14F-4D97-AF65-F5344CB8AC3E}">
        <p14:creationId xmlns:p14="http://schemas.microsoft.com/office/powerpoint/2010/main" val="3849863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DE0AA-26D5-2198-70CF-CFAB8A876C6E}"/>
              </a:ext>
            </a:extLst>
          </p:cNvPr>
          <p:cNvSpPr>
            <a:spLocks noGrp="1"/>
          </p:cNvSpPr>
          <p:nvPr>
            <p:ph type="title"/>
          </p:nvPr>
        </p:nvSpPr>
        <p:spPr/>
        <p:txBody>
          <a:bodyPr/>
          <a:lstStyle/>
          <a:p>
            <a:r>
              <a:rPr lang="en-US" b="1" dirty="0"/>
              <a:t>Lesson Learning Outcomes:</a:t>
            </a:r>
            <a:endParaRPr lang="en-US" dirty="0"/>
          </a:p>
        </p:txBody>
      </p:sp>
      <p:sp>
        <p:nvSpPr>
          <p:cNvPr id="3" name="Content Placeholder 2">
            <a:extLst>
              <a:ext uri="{FF2B5EF4-FFF2-40B4-BE49-F238E27FC236}">
                <a16:creationId xmlns:a16="http://schemas.microsoft.com/office/drawing/2014/main" id="{F4242087-6BD8-F437-5C1A-A0559F1EA861}"/>
              </a:ext>
            </a:extLst>
          </p:cNvPr>
          <p:cNvSpPr>
            <a:spLocks noGrp="1"/>
          </p:cNvSpPr>
          <p:nvPr>
            <p:ph idx="1"/>
          </p:nvPr>
        </p:nvSpPr>
        <p:spPr/>
        <p:txBody>
          <a:bodyPr/>
          <a:lstStyle/>
          <a:p>
            <a:r>
              <a:rPr lang="en-US" dirty="0"/>
              <a:t>Week 17 – BI Project Presentation</a:t>
            </a:r>
          </a:p>
          <a:p>
            <a:r>
              <a:rPr lang="en-US" dirty="0"/>
              <a:t>Week 18 – Final Assessment and Synthesis</a:t>
            </a:r>
          </a:p>
        </p:txBody>
      </p:sp>
    </p:spTree>
    <p:extLst>
      <p:ext uri="{BB962C8B-B14F-4D97-AF65-F5344CB8AC3E}">
        <p14:creationId xmlns:p14="http://schemas.microsoft.com/office/powerpoint/2010/main" val="9205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079AE-232F-6621-F740-88B3CB7804DF}"/>
              </a:ext>
            </a:extLst>
          </p:cNvPr>
          <p:cNvSpPr>
            <a:spLocks noGrp="1"/>
          </p:cNvSpPr>
          <p:nvPr>
            <p:ph type="title"/>
          </p:nvPr>
        </p:nvSpPr>
        <p:spPr/>
        <p:txBody>
          <a:bodyPr/>
          <a:lstStyle/>
          <a:p>
            <a:r>
              <a:rPr lang="en-US" dirty="0"/>
              <a:t>Subject expectations</a:t>
            </a:r>
          </a:p>
        </p:txBody>
      </p:sp>
      <p:sp>
        <p:nvSpPr>
          <p:cNvPr id="3" name="Content Placeholder 2">
            <a:extLst>
              <a:ext uri="{FF2B5EF4-FFF2-40B4-BE49-F238E27FC236}">
                <a16:creationId xmlns:a16="http://schemas.microsoft.com/office/drawing/2014/main" id="{3406705B-84C3-99E2-28A6-A7772E156A78}"/>
              </a:ext>
            </a:extLst>
          </p:cNvPr>
          <p:cNvSpPr>
            <a:spLocks noGrp="1"/>
          </p:cNvSpPr>
          <p:nvPr>
            <p:ph idx="1"/>
          </p:nvPr>
        </p:nvSpPr>
        <p:spPr/>
        <p:txBody>
          <a:bodyPr/>
          <a:lstStyle/>
          <a:p>
            <a:r>
              <a:rPr lang="en-US" dirty="0"/>
              <a:t>You will learn more about a BI professional’s role in an organization</a:t>
            </a:r>
          </a:p>
          <a:p>
            <a:r>
              <a:rPr lang="en-US" dirty="0"/>
              <a:t>Discover how to create tools and processes that empower the decision-making process. </a:t>
            </a:r>
          </a:p>
          <a:p>
            <a:r>
              <a:rPr lang="en-US" dirty="0"/>
              <a:t>Create dynamic reports and dashboards that communicate near-real-time data trends. </a:t>
            </a:r>
          </a:p>
        </p:txBody>
      </p:sp>
    </p:spTree>
    <p:extLst>
      <p:ext uri="{BB962C8B-B14F-4D97-AF65-F5344CB8AC3E}">
        <p14:creationId xmlns:p14="http://schemas.microsoft.com/office/powerpoint/2010/main" val="2045762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50DAA-5344-14DA-5ED1-79168345BB52}"/>
              </a:ext>
            </a:extLst>
          </p:cNvPr>
          <p:cNvSpPr>
            <a:spLocks noGrp="1"/>
          </p:cNvSpPr>
          <p:nvPr>
            <p:ph type="title"/>
          </p:nvPr>
        </p:nvSpPr>
        <p:spPr/>
        <p:txBody>
          <a:bodyPr/>
          <a:lstStyle/>
          <a:p>
            <a:r>
              <a:rPr lang="en-US" b="1" dirty="0"/>
              <a:t>Introduction to Business Intelligence</a:t>
            </a:r>
            <a:endParaRPr lang="en-US" dirty="0"/>
          </a:p>
        </p:txBody>
      </p:sp>
      <p:sp>
        <p:nvSpPr>
          <p:cNvPr id="3" name="Text Placeholder 2">
            <a:extLst>
              <a:ext uri="{FF2B5EF4-FFF2-40B4-BE49-F238E27FC236}">
                <a16:creationId xmlns:a16="http://schemas.microsoft.com/office/drawing/2014/main" id="{7A81352D-7397-3D6B-9443-B2FE86302E79}"/>
              </a:ext>
            </a:extLst>
          </p:cNvPr>
          <p:cNvSpPr>
            <a:spLocks noGrp="1"/>
          </p:cNvSpPr>
          <p:nvPr>
            <p:ph type="body" idx="1"/>
          </p:nvPr>
        </p:nvSpPr>
        <p:spPr/>
        <p:txBody>
          <a:bodyPr/>
          <a:lstStyle/>
          <a:p>
            <a:r>
              <a:rPr lang="en-US" dirty="0"/>
              <a:t>Week 1 – Introduction to BI</a:t>
            </a:r>
          </a:p>
        </p:txBody>
      </p:sp>
      <p:sp>
        <p:nvSpPr>
          <p:cNvPr id="4" name="Content Placeholder 3">
            <a:extLst>
              <a:ext uri="{FF2B5EF4-FFF2-40B4-BE49-F238E27FC236}">
                <a16:creationId xmlns:a16="http://schemas.microsoft.com/office/drawing/2014/main" id="{4E8C4BD0-44FA-E73A-A2EB-135D7DE98AF2}"/>
              </a:ext>
            </a:extLst>
          </p:cNvPr>
          <p:cNvSpPr>
            <a:spLocks noGrp="1"/>
          </p:cNvSpPr>
          <p:nvPr>
            <p:ph sz="half" idx="2"/>
          </p:nvPr>
        </p:nvSpPr>
        <p:spPr/>
        <p:txBody>
          <a:bodyPr>
            <a:normAutofit lnSpcReduction="10000"/>
          </a:bodyPr>
          <a:lstStyle/>
          <a:p>
            <a:pPr marL="514350" indent="-514350">
              <a:buFont typeface="+mj-lt"/>
              <a:buAutoNum type="arabicPeriod"/>
            </a:pPr>
            <a:r>
              <a:rPr lang="en-US" dirty="0"/>
              <a:t>Appreciate the role of data-driven decision-making in modern enterprises.</a:t>
            </a:r>
          </a:p>
          <a:p>
            <a:pPr marL="514350" indent="-514350">
              <a:buFont typeface="+mj-lt"/>
              <a:buAutoNum type="arabicPeriod"/>
            </a:pPr>
            <a:r>
              <a:rPr lang="en-US" dirty="0"/>
              <a:t>Identify real-world BI applications across industries.</a:t>
            </a:r>
          </a:p>
          <a:p>
            <a:pPr marL="514350" indent="-514350">
              <a:buFont typeface="+mj-lt"/>
              <a:buAutoNum type="arabicPeriod"/>
            </a:pPr>
            <a:r>
              <a:rPr lang="en-US" dirty="0"/>
              <a:t>Explain the scope, evolution, and importance of Business Intelligence in organizations.</a:t>
            </a:r>
          </a:p>
        </p:txBody>
      </p:sp>
      <p:sp>
        <p:nvSpPr>
          <p:cNvPr id="5" name="Text Placeholder 4">
            <a:extLst>
              <a:ext uri="{FF2B5EF4-FFF2-40B4-BE49-F238E27FC236}">
                <a16:creationId xmlns:a16="http://schemas.microsoft.com/office/drawing/2014/main" id="{DED50EA9-0A4D-A854-AD34-65B67652B353}"/>
              </a:ext>
            </a:extLst>
          </p:cNvPr>
          <p:cNvSpPr>
            <a:spLocks noGrp="1"/>
          </p:cNvSpPr>
          <p:nvPr>
            <p:ph type="body" sz="quarter" idx="3"/>
          </p:nvPr>
        </p:nvSpPr>
        <p:spPr/>
        <p:txBody>
          <a:bodyPr>
            <a:normAutofit/>
          </a:bodyPr>
          <a:lstStyle/>
          <a:p>
            <a:r>
              <a:rPr lang="en-US" dirty="0"/>
              <a:t>Week 2 – BI Architecture and Components</a:t>
            </a:r>
          </a:p>
        </p:txBody>
      </p:sp>
      <p:sp>
        <p:nvSpPr>
          <p:cNvPr id="6" name="Content Placeholder 5">
            <a:extLst>
              <a:ext uri="{FF2B5EF4-FFF2-40B4-BE49-F238E27FC236}">
                <a16:creationId xmlns:a16="http://schemas.microsoft.com/office/drawing/2014/main" id="{B7A5226D-610A-B785-9A88-9CB7F1D53D76}"/>
              </a:ext>
            </a:extLst>
          </p:cNvPr>
          <p:cNvSpPr>
            <a:spLocks noGrp="1"/>
          </p:cNvSpPr>
          <p:nvPr>
            <p:ph sz="quarter" idx="4"/>
          </p:nvPr>
        </p:nvSpPr>
        <p:spPr/>
        <p:txBody>
          <a:bodyPr>
            <a:normAutofit lnSpcReduction="10000"/>
          </a:bodyPr>
          <a:lstStyle/>
          <a:p>
            <a:r>
              <a:rPr lang="en-US" dirty="0"/>
              <a:t>Value structured system design and integration.</a:t>
            </a:r>
          </a:p>
          <a:p>
            <a:r>
              <a:rPr lang="en-US" dirty="0"/>
              <a:t> Illustrate a basic BI system architecture.</a:t>
            </a:r>
          </a:p>
          <a:p>
            <a:r>
              <a:rPr lang="en-US" dirty="0"/>
              <a:t>Describe BI architectures, components, and workflows.</a:t>
            </a:r>
          </a:p>
        </p:txBody>
      </p:sp>
    </p:spTree>
    <p:extLst>
      <p:ext uri="{BB962C8B-B14F-4D97-AF65-F5344CB8AC3E}">
        <p14:creationId xmlns:p14="http://schemas.microsoft.com/office/powerpoint/2010/main" val="454315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F3841-DD27-0EEB-3D06-B5BB63A9F135}"/>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9B9FDBD0-F812-1C71-6CF7-A7E7D93571AC}"/>
              </a:ext>
            </a:extLst>
          </p:cNvPr>
          <p:cNvSpPr>
            <a:spLocks noGrp="1"/>
          </p:cNvSpPr>
          <p:nvPr>
            <p:ph idx="1"/>
          </p:nvPr>
        </p:nvSpPr>
        <p:spPr/>
        <p:txBody>
          <a:bodyPr/>
          <a:lstStyle/>
          <a:p>
            <a:r>
              <a:rPr lang="en-US" dirty="0"/>
              <a:t>Howard Dresner (1989) - founder and CRO of Dresner Advisory Services </a:t>
            </a:r>
          </a:p>
          <a:p>
            <a:r>
              <a:rPr lang="en-US" dirty="0"/>
              <a:t>Dresner used the phrase to describe a set of concepts and methods to improve business decision-making by utilizing fact-based support systems. (Khan A. (2025) </a:t>
            </a:r>
            <a:r>
              <a:rPr lang="en-US" i="1" dirty="0"/>
              <a:t>Business Intelligence and Data Analysis in the Age of AI, Mercury Learning and Information)</a:t>
            </a:r>
            <a:endParaRPr lang="en-US" dirty="0"/>
          </a:p>
        </p:txBody>
      </p:sp>
    </p:spTree>
    <p:extLst>
      <p:ext uri="{BB962C8B-B14F-4D97-AF65-F5344CB8AC3E}">
        <p14:creationId xmlns:p14="http://schemas.microsoft.com/office/powerpoint/2010/main" val="3791197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C6C1-ADD0-A4AE-DF1C-A051FC0385F7}"/>
              </a:ext>
            </a:extLst>
          </p:cNvPr>
          <p:cNvSpPr>
            <a:spLocks noGrp="1"/>
          </p:cNvSpPr>
          <p:nvPr>
            <p:ph type="title"/>
          </p:nvPr>
        </p:nvSpPr>
        <p:spPr>
          <a:xfrm>
            <a:off x="838200" y="365125"/>
            <a:ext cx="10515600" cy="1325563"/>
          </a:xfrm>
        </p:spPr>
        <p:txBody>
          <a:bodyPr/>
          <a:lstStyle/>
          <a:p>
            <a:r>
              <a:rPr lang="en-US" dirty="0"/>
              <a:t>Howard Dresner</a:t>
            </a:r>
          </a:p>
        </p:txBody>
      </p:sp>
      <p:pic>
        <p:nvPicPr>
          <p:cNvPr id="4" name="Content Placeholder 3">
            <a:extLst>
              <a:ext uri="{FF2B5EF4-FFF2-40B4-BE49-F238E27FC236}">
                <a16:creationId xmlns:a16="http://schemas.microsoft.com/office/drawing/2014/main" id="{C42CC5A5-189F-C14B-1DDE-3D7BECE99A76}"/>
              </a:ext>
            </a:extLst>
          </p:cNvPr>
          <p:cNvPicPr>
            <a:picLocks noGrp="1" noChangeAspect="1"/>
          </p:cNvPicPr>
          <p:nvPr>
            <p:ph idx="1"/>
          </p:nvPr>
        </p:nvPicPr>
        <p:blipFill>
          <a:blip r:embed="rId2"/>
          <a:stretch>
            <a:fillRect/>
          </a:stretch>
        </p:blipFill>
        <p:spPr>
          <a:xfrm>
            <a:off x="6953044" y="1842878"/>
            <a:ext cx="4400756" cy="2933838"/>
          </a:xfrm>
          <a:prstGeom prst="rect">
            <a:avLst/>
          </a:prstGeom>
        </p:spPr>
      </p:pic>
      <p:sp>
        <p:nvSpPr>
          <p:cNvPr id="6" name="Content Placeholder 2">
            <a:extLst>
              <a:ext uri="{FF2B5EF4-FFF2-40B4-BE49-F238E27FC236}">
                <a16:creationId xmlns:a16="http://schemas.microsoft.com/office/drawing/2014/main" id="{4B06F438-E40D-E4CD-4D71-37902A86EE24}"/>
              </a:ext>
            </a:extLst>
          </p:cNvPr>
          <p:cNvSpPr txBox="1">
            <a:spLocks/>
          </p:cNvSpPr>
          <p:nvPr/>
        </p:nvSpPr>
        <p:spPr>
          <a:xfrm>
            <a:off x="838199" y="1825625"/>
            <a:ext cx="58764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Dresner’s early definition laid the groundwork for the field of business intelligence, which has since evolved into a crucial component of modern business strategies, involving data analysis, reporting, and the use of technology to provide actionable insights for organizations.</a:t>
            </a:r>
          </a:p>
        </p:txBody>
      </p:sp>
    </p:spTree>
    <p:extLst>
      <p:ext uri="{BB962C8B-B14F-4D97-AF65-F5344CB8AC3E}">
        <p14:creationId xmlns:p14="http://schemas.microsoft.com/office/powerpoint/2010/main" val="186409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297A-B8AC-A4D2-FF84-7B39D3052697}"/>
              </a:ext>
            </a:extLst>
          </p:cNvPr>
          <p:cNvSpPr>
            <a:spLocks noGrp="1"/>
          </p:cNvSpPr>
          <p:nvPr>
            <p:ph type="title"/>
          </p:nvPr>
        </p:nvSpPr>
        <p:spPr/>
        <p:txBody>
          <a:bodyPr/>
          <a:lstStyle/>
          <a:p>
            <a:r>
              <a:rPr lang="en-US" dirty="0"/>
              <a:t>Business Intelligence Overview</a:t>
            </a:r>
          </a:p>
        </p:txBody>
      </p:sp>
      <p:sp>
        <p:nvSpPr>
          <p:cNvPr id="3" name="Content Placeholder 2">
            <a:extLst>
              <a:ext uri="{FF2B5EF4-FFF2-40B4-BE49-F238E27FC236}">
                <a16:creationId xmlns:a16="http://schemas.microsoft.com/office/drawing/2014/main" id="{344FD671-1859-6250-EB7C-88A95087B191}"/>
              </a:ext>
            </a:extLst>
          </p:cNvPr>
          <p:cNvSpPr>
            <a:spLocks noGrp="1"/>
          </p:cNvSpPr>
          <p:nvPr>
            <p:ph idx="1"/>
          </p:nvPr>
        </p:nvSpPr>
        <p:spPr/>
        <p:txBody>
          <a:bodyPr>
            <a:normAutofit/>
          </a:bodyPr>
          <a:lstStyle/>
          <a:p>
            <a:pPr marL="0" indent="0">
              <a:lnSpc>
                <a:spcPct val="150000"/>
              </a:lnSpc>
              <a:buNone/>
            </a:pPr>
            <a:r>
              <a:rPr lang="en-US" dirty="0"/>
              <a:t>The primary objective of Business Intelligence (BI) is to empower organizations with actionable insights derived from their data, fostering informed decision-making and strategic planning. By systematically </a:t>
            </a:r>
            <a:r>
              <a:rPr lang="en-US" dirty="0">
                <a:solidFill>
                  <a:srgbClr val="FF0000"/>
                </a:solidFill>
              </a:rPr>
              <a:t>collecting, processing, and analyzing data</a:t>
            </a:r>
            <a:r>
              <a:rPr lang="en-US" dirty="0"/>
              <a:t>, BI enables enterprises to gain a comprehensive understanding of their </a:t>
            </a:r>
            <a:r>
              <a:rPr lang="en-US" dirty="0">
                <a:solidFill>
                  <a:srgbClr val="FF0000"/>
                </a:solidFill>
              </a:rPr>
              <a:t>internal processes, market dynamics, and customer behavior</a:t>
            </a:r>
            <a:r>
              <a:rPr lang="en-US" dirty="0"/>
              <a:t>.</a:t>
            </a:r>
          </a:p>
        </p:txBody>
      </p:sp>
    </p:spTree>
    <p:extLst>
      <p:ext uri="{BB962C8B-B14F-4D97-AF65-F5344CB8AC3E}">
        <p14:creationId xmlns:p14="http://schemas.microsoft.com/office/powerpoint/2010/main" val="14151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66A20-5924-744B-157F-24744752AE17}"/>
              </a:ext>
            </a:extLst>
          </p:cNvPr>
          <p:cNvSpPr>
            <a:spLocks noGrp="1"/>
          </p:cNvSpPr>
          <p:nvPr>
            <p:ph type="title"/>
          </p:nvPr>
        </p:nvSpPr>
        <p:spPr/>
        <p:txBody>
          <a:bodyPr/>
          <a:lstStyle/>
          <a:p>
            <a:r>
              <a:rPr lang="en-US" dirty="0"/>
              <a:t>Evolution</a:t>
            </a:r>
          </a:p>
        </p:txBody>
      </p:sp>
      <p:sp>
        <p:nvSpPr>
          <p:cNvPr id="3" name="Content Placeholder 2">
            <a:extLst>
              <a:ext uri="{FF2B5EF4-FFF2-40B4-BE49-F238E27FC236}">
                <a16:creationId xmlns:a16="http://schemas.microsoft.com/office/drawing/2014/main" id="{A35FB41D-A584-2D82-6DAB-8C01D4A63872}"/>
              </a:ext>
            </a:extLst>
          </p:cNvPr>
          <p:cNvSpPr>
            <a:spLocks noGrp="1"/>
          </p:cNvSpPr>
          <p:nvPr>
            <p:ph idx="1"/>
          </p:nvPr>
        </p:nvSpPr>
        <p:spPr/>
        <p:txBody>
          <a:bodyPr>
            <a:normAutofit fontScale="77500" lnSpcReduction="20000"/>
          </a:bodyPr>
          <a:lstStyle/>
          <a:p>
            <a:r>
              <a:rPr lang="en-US" dirty="0"/>
              <a:t>Beginning in the late </a:t>
            </a:r>
            <a:r>
              <a:rPr lang="en-US" dirty="0">
                <a:solidFill>
                  <a:srgbClr val="FF0000"/>
                </a:solidFill>
              </a:rPr>
              <a:t>twentieth century</a:t>
            </a:r>
            <a:r>
              <a:rPr lang="en-US" dirty="0"/>
              <a:t>, BI emerged as a concept for improving decision-making processes by leveraging data-driven insights. </a:t>
            </a:r>
          </a:p>
          <a:p>
            <a:r>
              <a:rPr lang="en-US" dirty="0"/>
              <a:t>Initially focused on </a:t>
            </a:r>
            <a:r>
              <a:rPr lang="en-US" dirty="0">
                <a:solidFill>
                  <a:srgbClr val="FF0000"/>
                </a:solidFill>
              </a:rPr>
              <a:t>reporting</a:t>
            </a:r>
            <a:r>
              <a:rPr lang="en-US" dirty="0"/>
              <a:t> and </a:t>
            </a:r>
            <a:r>
              <a:rPr lang="en-US" dirty="0">
                <a:solidFill>
                  <a:srgbClr val="FF0000"/>
                </a:solidFill>
              </a:rPr>
              <a:t>querying</a:t>
            </a:r>
            <a:r>
              <a:rPr lang="en-US" dirty="0"/>
              <a:t>, BI evolved with the advent of </a:t>
            </a:r>
            <a:r>
              <a:rPr lang="en-US" dirty="0">
                <a:solidFill>
                  <a:srgbClr val="FF0000"/>
                </a:solidFill>
              </a:rPr>
              <a:t>data warehousing</a:t>
            </a:r>
            <a:r>
              <a:rPr lang="en-US" dirty="0"/>
              <a:t>, </a:t>
            </a:r>
            <a:r>
              <a:rPr lang="en-US" dirty="0">
                <a:solidFill>
                  <a:srgbClr val="FF0000"/>
                </a:solidFill>
              </a:rPr>
              <a:t>extract</a:t>
            </a:r>
            <a:r>
              <a:rPr lang="en-US" dirty="0"/>
              <a:t>, </a:t>
            </a:r>
            <a:r>
              <a:rPr lang="en-US" dirty="0">
                <a:solidFill>
                  <a:srgbClr val="FF0000"/>
                </a:solidFill>
              </a:rPr>
              <a:t>transform</a:t>
            </a:r>
            <a:r>
              <a:rPr lang="en-US" dirty="0"/>
              <a:t>, </a:t>
            </a:r>
            <a:r>
              <a:rPr lang="en-US" dirty="0">
                <a:solidFill>
                  <a:srgbClr val="FF0000"/>
                </a:solidFill>
              </a:rPr>
              <a:t>load</a:t>
            </a:r>
            <a:r>
              <a:rPr lang="en-US" dirty="0"/>
              <a:t> (ETL) processes, and </a:t>
            </a:r>
            <a:r>
              <a:rPr lang="en-US" dirty="0">
                <a:solidFill>
                  <a:srgbClr val="FF0000"/>
                </a:solidFill>
              </a:rPr>
              <a:t>multidimensional analysis</a:t>
            </a:r>
            <a:r>
              <a:rPr lang="en-US" dirty="0"/>
              <a:t>.</a:t>
            </a:r>
          </a:p>
          <a:p>
            <a:r>
              <a:rPr lang="en-US" dirty="0"/>
              <a:t>In the </a:t>
            </a:r>
            <a:r>
              <a:rPr lang="en-US" dirty="0">
                <a:solidFill>
                  <a:srgbClr val="FF0000"/>
                </a:solidFill>
              </a:rPr>
              <a:t>2000s</a:t>
            </a:r>
            <a:r>
              <a:rPr lang="en-US" dirty="0"/>
              <a:t>, a shift toward more user-friendly interfaces and interactive dashboards occurred, making BI accessible to a broader audience. </a:t>
            </a:r>
          </a:p>
          <a:p>
            <a:r>
              <a:rPr lang="en-US" dirty="0"/>
              <a:t>The rise of </a:t>
            </a:r>
            <a:r>
              <a:rPr lang="en-US" dirty="0">
                <a:solidFill>
                  <a:srgbClr val="FF0000"/>
                </a:solidFill>
              </a:rPr>
              <a:t>big data</a:t>
            </a:r>
            <a:r>
              <a:rPr lang="en-US" dirty="0"/>
              <a:t> and </a:t>
            </a:r>
            <a:r>
              <a:rPr lang="en-US" dirty="0">
                <a:solidFill>
                  <a:srgbClr val="FF0000"/>
                </a:solidFill>
              </a:rPr>
              <a:t>cloud computing</a:t>
            </a:r>
            <a:r>
              <a:rPr lang="en-US" dirty="0"/>
              <a:t> in the following decade further propelled BI, enabling organizations to handle larger datasets and facilitate real-time analytics. </a:t>
            </a:r>
          </a:p>
          <a:p>
            <a:r>
              <a:rPr lang="en-US" dirty="0"/>
              <a:t>Today, BI incorporates </a:t>
            </a:r>
            <a:r>
              <a:rPr lang="en-US" dirty="0">
                <a:solidFill>
                  <a:srgbClr val="FF0000"/>
                </a:solidFill>
              </a:rPr>
              <a:t>advanced analytics</a:t>
            </a:r>
            <a:r>
              <a:rPr lang="en-US" dirty="0"/>
              <a:t>, </a:t>
            </a:r>
            <a:r>
              <a:rPr lang="en-US" dirty="0">
                <a:solidFill>
                  <a:srgbClr val="FF0000"/>
                </a:solidFill>
              </a:rPr>
              <a:t>machine learning</a:t>
            </a:r>
            <a:r>
              <a:rPr lang="en-US" dirty="0"/>
              <a:t>, and </a:t>
            </a:r>
            <a:r>
              <a:rPr lang="en-US" dirty="0">
                <a:solidFill>
                  <a:srgbClr val="FF0000"/>
                </a:solidFill>
              </a:rPr>
              <a:t>Artificial Intelligence</a:t>
            </a:r>
            <a:r>
              <a:rPr lang="en-US" dirty="0"/>
              <a:t>, providing predictive and prescriptive capabilities for more proactive decision-making. </a:t>
            </a:r>
          </a:p>
          <a:p>
            <a:r>
              <a:rPr lang="en-US" dirty="0"/>
              <a:t>The evolution of BI reflects a continuous adaptation to technological advancements, expanding its capabilities and impact on organizational strategies.</a:t>
            </a:r>
          </a:p>
        </p:txBody>
      </p:sp>
    </p:spTree>
    <p:extLst>
      <p:ext uri="{BB962C8B-B14F-4D97-AF65-F5344CB8AC3E}">
        <p14:creationId xmlns:p14="http://schemas.microsoft.com/office/powerpoint/2010/main" val="874795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7086-4E0D-180E-EC2B-DA0F6365FD38}"/>
              </a:ext>
            </a:extLst>
          </p:cNvPr>
          <p:cNvSpPr>
            <a:spLocks noGrp="1"/>
          </p:cNvSpPr>
          <p:nvPr>
            <p:ph type="title"/>
          </p:nvPr>
        </p:nvSpPr>
        <p:spPr/>
        <p:txBody>
          <a:bodyPr>
            <a:normAutofit/>
          </a:bodyPr>
          <a:lstStyle/>
          <a:p>
            <a:r>
              <a:rPr lang="en-US" dirty="0"/>
              <a:t>How Business Intelligence (BI) Is used:</a:t>
            </a:r>
            <a:br>
              <a:rPr lang="en-US" dirty="0"/>
            </a:br>
            <a:r>
              <a:rPr lang="en-US" sz="2800" dirty="0"/>
              <a:t>Scenario: A Retail Company Improving Sales and Inventory Management</a:t>
            </a:r>
            <a:endParaRPr lang="en-US" dirty="0"/>
          </a:p>
        </p:txBody>
      </p:sp>
      <p:sp>
        <p:nvSpPr>
          <p:cNvPr id="3" name="Content Placeholder 2">
            <a:extLst>
              <a:ext uri="{FF2B5EF4-FFF2-40B4-BE49-F238E27FC236}">
                <a16:creationId xmlns:a16="http://schemas.microsoft.com/office/drawing/2014/main" id="{8C87A6D7-19EA-1136-F703-2C6C7DC0196A}"/>
              </a:ext>
            </a:extLst>
          </p:cNvPr>
          <p:cNvSpPr>
            <a:spLocks noGrp="1"/>
          </p:cNvSpPr>
          <p:nvPr>
            <p:ph sz="half" idx="1"/>
          </p:nvPr>
        </p:nvSpPr>
        <p:spPr>
          <a:xfrm>
            <a:off x="838199" y="1825625"/>
            <a:ext cx="10515599" cy="4351338"/>
          </a:xfrm>
        </p:spPr>
        <p:txBody>
          <a:bodyPr>
            <a:normAutofit lnSpcReduction="10000"/>
          </a:bodyPr>
          <a:lstStyle/>
          <a:p>
            <a:pPr marL="514350" indent="-514350">
              <a:buFont typeface="+mj-lt"/>
              <a:buAutoNum type="arabicPeriod"/>
            </a:pPr>
            <a:r>
              <a:rPr lang="en-US" b="1" dirty="0">
                <a:solidFill>
                  <a:srgbClr val="FF0000"/>
                </a:solidFill>
              </a:rPr>
              <a:t>Data Collection - </a:t>
            </a:r>
            <a:r>
              <a:rPr lang="en-US" dirty="0"/>
              <a:t>The company gathers data from multiple sources:</a:t>
            </a:r>
          </a:p>
          <a:p>
            <a:pPr lvl="1"/>
            <a:r>
              <a:rPr lang="en-US" dirty="0"/>
              <a:t>Point-of-sale (POS) systems (daily sales)</a:t>
            </a:r>
          </a:p>
          <a:p>
            <a:pPr lvl="1"/>
            <a:r>
              <a:rPr lang="en-US" dirty="0"/>
              <a:t>Online store transactions</a:t>
            </a:r>
          </a:p>
          <a:p>
            <a:pPr lvl="1"/>
            <a:r>
              <a:rPr lang="en-US" dirty="0"/>
              <a:t>Inventory records</a:t>
            </a:r>
          </a:p>
          <a:p>
            <a:pPr lvl="1"/>
            <a:r>
              <a:rPr lang="en-US" dirty="0"/>
              <a:t>Customer loyalty programs</a:t>
            </a:r>
          </a:p>
          <a:p>
            <a:pPr marL="514350" indent="-514350">
              <a:buFont typeface="+mj-lt"/>
              <a:buAutoNum type="arabicPeriod"/>
            </a:pPr>
            <a:r>
              <a:rPr lang="en-US" b="1" dirty="0">
                <a:solidFill>
                  <a:srgbClr val="FF0000"/>
                </a:solidFill>
              </a:rPr>
              <a:t>Data Analysis - </a:t>
            </a:r>
            <a:r>
              <a:rPr lang="en-US" dirty="0"/>
              <a:t>Using BI tools, the company analyzes:</a:t>
            </a:r>
          </a:p>
          <a:p>
            <a:pPr lvl="1"/>
            <a:r>
              <a:rPr lang="en-US" dirty="0"/>
              <a:t>Which products sell the most by location and season</a:t>
            </a:r>
          </a:p>
          <a:p>
            <a:pPr lvl="1"/>
            <a:r>
              <a:rPr lang="en-US" dirty="0"/>
              <a:t>Peak shopping days and hours</a:t>
            </a:r>
          </a:p>
          <a:p>
            <a:pPr lvl="1"/>
            <a:r>
              <a:rPr lang="en-US" dirty="0"/>
              <a:t>Customer buying patterns (e.g., repeat customers, popular product bundles)</a:t>
            </a:r>
            <a:endParaRPr lang="en-US" b="1" dirty="0">
              <a:solidFill>
                <a:srgbClr val="FF0000"/>
              </a:solidFill>
            </a:endParaRPr>
          </a:p>
        </p:txBody>
      </p:sp>
    </p:spTree>
    <p:extLst>
      <p:ext uri="{BB962C8B-B14F-4D97-AF65-F5344CB8AC3E}">
        <p14:creationId xmlns:p14="http://schemas.microsoft.com/office/powerpoint/2010/main" val="2303455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C54C7-4DA0-BEEF-5A1B-B41A3EA79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BBA2C-4BE8-D1DF-EBB0-04E4AE65E3C8}"/>
              </a:ext>
            </a:extLst>
          </p:cNvPr>
          <p:cNvSpPr>
            <a:spLocks noGrp="1"/>
          </p:cNvSpPr>
          <p:nvPr>
            <p:ph type="title"/>
          </p:nvPr>
        </p:nvSpPr>
        <p:spPr/>
        <p:txBody>
          <a:bodyPr>
            <a:normAutofit/>
          </a:bodyPr>
          <a:lstStyle/>
          <a:p>
            <a:r>
              <a:rPr lang="en-US" dirty="0"/>
              <a:t>How Business Intelligence (BI) Is used:</a:t>
            </a:r>
          </a:p>
        </p:txBody>
      </p:sp>
      <p:sp>
        <p:nvSpPr>
          <p:cNvPr id="3" name="Content Placeholder 2">
            <a:extLst>
              <a:ext uri="{FF2B5EF4-FFF2-40B4-BE49-F238E27FC236}">
                <a16:creationId xmlns:a16="http://schemas.microsoft.com/office/drawing/2014/main" id="{86F25F45-6A65-6F6A-8BCF-6FC229C79A94}"/>
              </a:ext>
            </a:extLst>
          </p:cNvPr>
          <p:cNvSpPr>
            <a:spLocks noGrp="1"/>
          </p:cNvSpPr>
          <p:nvPr>
            <p:ph sz="half" idx="1"/>
          </p:nvPr>
        </p:nvSpPr>
        <p:spPr>
          <a:xfrm>
            <a:off x="838199" y="1825625"/>
            <a:ext cx="10515599" cy="4351338"/>
          </a:xfrm>
        </p:spPr>
        <p:txBody>
          <a:bodyPr>
            <a:normAutofit/>
          </a:bodyPr>
          <a:lstStyle/>
          <a:p>
            <a:pPr marL="514350" indent="-514350">
              <a:buFont typeface="+mj-lt"/>
              <a:buAutoNum type="arabicPeriod" startAt="4"/>
              <a:tabLst>
                <a:tab pos="2116138" algn="l"/>
              </a:tabLst>
            </a:pPr>
            <a:r>
              <a:rPr lang="en-US" b="1" dirty="0">
                <a:solidFill>
                  <a:srgbClr val="FF0000"/>
                </a:solidFill>
              </a:rPr>
              <a:t>Dashboards and Reports - </a:t>
            </a:r>
            <a:r>
              <a:rPr lang="en-US" dirty="0"/>
              <a:t>Managers view interactive dashboards that show:</a:t>
            </a:r>
          </a:p>
          <a:p>
            <a:pPr lvl="1"/>
            <a:r>
              <a:rPr lang="en-US" dirty="0"/>
              <a:t>Real-time sales performance</a:t>
            </a:r>
          </a:p>
          <a:p>
            <a:pPr lvl="1"/>
            <a:r>
              <a:rPr lang="en-US" dirty="0"/>
              <a:t>Low-stock and overstocked items</a:t>
            </a:r>
          </a:p>
          <a:p>
            <a:pPr lvl="1"/>
            <a:r>
              <a:rPr lang="en-US" dirty="0"/>
              <a:t>Monthly and weekly sales trends</a:t>
            </a:r>
          </a:p>
          <a:p>
            <a:pPr marL="514350" indent="-514350">
              <a:buFont typeface="+mj-lt"/>
              <a:buAutoNum type="arabicPeriod" startAt="4"/>
            </a:pPr>
            <a:r>
              <a:rPr lang="en-US" b="1" dirty="0">
                <a:solidFill>
                  <a:srgbClr val="FF0000"/>
                </a:solidFill>
              </a:rPr>
              <a:t>Decision-Making - </a:t>
            </a:r>
            <a:r>
              <a:rPr lang="en-US" dirty="0"/>
              <a:t>Based on BI insights:</a:t>
            </a:r>
          </a:p>
          <a:p>
            <a:pPr lvl="1"/>
            <a:r>
              <a:rPr lang="en-US" dirty="0"/>
              <a:t>The company restocks fast-selling items before they run out</a:t>
            </a:r>
          </a:p>
          <a:p>
            <a:pPr lvl="1"/>
            <a:r>
              <a:rPr lang="en-US" dirty="0"/>
              <a:t>Slow-moving products are discounted or discontinued</a:t>
            </a:r>
          </a:p>
          <a:p>
            <a:pPr lvl="1"/>
            <a:r>
              <a:rPr lang="en-US" dirty="0"/>
              <a:t>Promotions are targeted to specific customer groups</a:t>
            </a:r>
            <a:endParaRPr lang="en-US" b="1" dirty="0">
              <a:solidFill>
                <a:srgbClr val="FF0000"/>
              </a:solidFill>
            </a:endParaRPr>
          </a:p>
        </p:txBody>
      </p:sp>
    </p:spTree>
    <p:extLst>
      <p:ext uri="{BB962C8B-B14F-4D97-AF65-F5344CB8AC3E}">
        <p14:creationId xmlns:p14="http://schemas.microsoft.com/office/powerpoint/2010/main" val="2051800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21F05-B4C7-D92E-F605-62CDEF155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6B63D-0D9E-9D6F-65C9-A885B61B1653}"/>
              </a:ext>
            </a:extLst>
          </p:cNvPr>
          <p:cNvSpPr>
            <a:spLocks noGrp="1"/>
          </p:cNvSpPr>
          <p:nvPr>
            <p:ph type="title"/>
          </p:nvPr>
        </p:nvSpPr>
        <p:spPr/>
        <p:txBody>
          <a:bodyPr>
            <a:normAutofit/>
          </a:bodyPr>
          <a:lstStyle/>
          <a:p>
            <a:r>
              <a:rPr lang="en-US" dirty="0"/>
              <a:t>How Business Intelligence (BI) Is used:</a:t>
            </a:r>
          </a:p>
        </p:txBody>
      </p:sp>
      <p:sp>
        <p:nvSpPr>
          <p:cNvPr id="3" name="Content Placeholder 2">
            <a:extLst>
              <a:ext uri="{FF2B5EF4-FFF2-40B4-BE49-F238E27FC236}">
                <a16:creationId xmlns:a16="http://schemas.microsoft.com/office/drawing/2014/main" id="{ED057E17-5C6D-4313-A6BB-AFB05E0E1EAF}"/>
              </a:ext>
            </a:extLst>
          </p:cNvPr>
          <p:cNvSpPr>
            <a:spLocks noGrp="1"/>
          </p:cNvSpPr>
          <p:nvPr>
            <p:ph sz="half" idx="1"/>
          </p:nvPr>
        </p:nvSpPr>
        <p:spPr>
          <a:xfrm>
            <a:off x="838199" y="1825625"/>
            <a:ext cx="10515599" cy="4351338"/>
          </a:xfrm>
        </p:spPr>
        <p:txBody>
          <a:bodyPr>
            <a:normAutofit/>
          </a:bodyPr>
          <a:lstStyle/>
          <a:p>
            <a:pPr marL="514350" indent="-514350">
              <a:buFont typeface="+mj-lt"/>
              <a:buAutoNum type="arabicPeriod" startAt="6"/>
              <a:tabLst>
                <a:tab pos="2116138" algn="l"/>
              </a:tabLst>
            </a:pPr>
            <a:r>
              <a:rPr lang="en-US" b="1" dirty="0">
                <a:solidFill>
                  <a:srgbClr val="FF0000"/>
                </a:solidFill>
              </a:rPr>
              <a:t>Business Impact</a:t>
            </a:r>
            <a:endParaRPr lang="en-US" dirty="0"/>
          </a:p>
          <a:p>
            <a:pPr lvl="1"/>
            <a:r>
              <a:rPr lang="en-US" dirty="0"/>
              <a:t>Reduced inventory costs</a:t>
            </a:r>
          </a:p>
          <a:p>
            <a:pPr lvl="1"/>
            <a:r>
              <a:rPr lang="en-US" dirty="0"/>
              <a:t>Increased sales and customer satisfaction</a:t>
            </a:r>
          </a:p>
          <a:p>
            <a:pPr lvl="1"/>
            <a:r>
              <a:rPr lang="en-US" dirty="0"/>
              <a:t>Faster, data-driven decisions instead of guesswork</a:t>
            </a:r>
            <a:endParaRPr lang="en-US" b="1" dirty="0">
              <a:solidFill>
                <a:srgbClr val="FF0000"/>
              </a:solidFill>
            </a:endParaRPr>
          </a:p>
        </p:txBody>
      </p:sp>
    </p:spTree>
    <p:extLst>
      <p:ext uri="{BB962C8B-B14F-4D97-AF65-F5344CB8AC3E}">
        <p14:creationId xmlns:p14="http://schemas.microsoft.com/office/powerpoint/2010/main" val="2625159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D5DB-629D-0509-E3F8-A71ED2233F1E}"/>
              </a:ext>
            </a:extLst>
          </p:cNvPr>
          <p:cNvSpPr>
            <a:spLocks noGrp="1"/>
          </p:cNvSpPr>
          <p:nvPr>
            <p:ph type="title"/>
          </p:nvPr>
        </p:nvSpPr>
        <p:spPr/>
        <p:txBody>
          <a:bodyPr/>
          <a:lstStyle/>
          <a:p>
            <a:r>
              <a:rPr lang="en-US" dirty="0"/>
              <a:t>Role of data-driven decision-making in modern enterprises</a:t>
            </a:r>
          </a:p>
        </p:txBody>
      </p:sp>
      <p:sp>
        <p:nvSpPr>
          <p:cNvPr id="3" name="Content Placeholder 2">
            <a:extLst>
              <a:ext uri="{FF2B5EF4-FFF2-40B4-BE49-F238E27FC236}">
                <a16:creationId xmlns:a16="http://schemas.microsoft.com/office/drawing/2014/main" id="{68163DFC-143E-12C2-8F7B-2912A434AC46}"/>
              </a:ext>
            </a:extLst>
          </p:cNvPr>
          <p:cNvSpPr>
            <a:spLocks noGrp="1"/>
          </p:cNvSpPr>
          <p:nvPr>
            <p:ph idx="1"/>
          </p:nvPr>
        </p:nvSpPr>
        <p:spPr/>
        <p:txBody>
          <a:bodyPr>
            <a:normAutofit/>
          </a:bodyPr>
          <a:lstStyle/>
          <a:p>
            <a:pPr marL="0" indent="0">
              <a:buNone/>
            </a:pPr>
            <a:r>
              <a:rPr lang="en-US" b="1" dirty="0">
                <a:solidFill>
                  <a:srgbClr val="FF0000"/>
                </a:solidFill>
              </a:rPr>
              <a:t>Business Intelligence applications</a:t>
            </a:r>
            <a:r>
              <a:rPr lang="en-US" dirty="0"/>
              <a:t> play an extremely important role in this process.</a:t>
            </a:r>
          </a:p>
          <a:p>
            <a:pPr marL="0" indent="0">
              <a:buNone/>
            </a:pPr>
            <a:r>
              <a:rPr lang="en-US" dirty="0"/>
              <a:t>BI Application Categories</a:t>
            </a:r>
          </a:p>
          <a:p>
            <a:r>
              <a:rPr lang="en-US" b="1" dirty="0">
                <a:solidFill>
                  <a:srgbClr val="FF0000"/>
                </a:solidFill>
              </a:rPr>
              <a:t>Operations Reporting</a:t>
            </a:r>
            <a:r>
              <a:rPr lang="en-US" dirty="0"/>
              <a:t> - This serves as a foundational layer for organizations to understand and optimize their day-to-day activities. It uses online analytical processing and visualization. </a:t>
            </a:r>
          </a:p>
          <a:p>
            <a:r>
              <a:rPr lang="en-US" b="1" dirty="0">
                <a:solidFill>
                  <a:srgbClr val="FF0000"/>
                </a:solidFill>
              </a:rPr>
              <a:t>Analytics</a:t>
            </a:r>
            <a:r>
              <a:rPr lang="en-US" dirty="0">
                <a:solidFill>
                  <a:srgbClr val="FF0000"/>
                </a:solidFill>
              </a:rPr>
              <a:t> - </a:t>
            </a:r>
            <a:r>
              <a:rPr lang="en-US" dirty="0"/>
              <a:t>encompassing a range of techniques, including predictive analysis and statistical analysis.</a:t>
            </a:r>
            <a:endParaRPr lang="en-US" dirty="0">
              <a:solidFill>
                <a:srgbClr val="FF0000"/>
              </a:solidFill>
            </a:endParaRPr>
          </a:p>
        </p:txBody>
      </p:sp>
    </p:spTree>
    <p:extLst>
      <p:ext uri="{BB962C8B-B14F-4D97-AF65-F5344CB8AC3E}">
        <p14:creationId xmlns:p14="http://schemas.microsoft.com/office/powerpoint/2010/main" val="4045616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6549-86DF-3306-104E-723986DBBCA1}"/>
              </a:ext>
            </a:extLst>
          </p:cNvPr>
          <p:cNvSpPr>
            <a:spLocks noGrp="1"/>
          </p:cNvSpPr>
          <p:nvPr>
            <p:ph type="title"/>
          </p:nvPr>
        </p:nvSpPr>
        <p:spPr/>
        <p:txBody>
          <a:bodyPr>
            <a:normAutofit/>
          </a:bodyPr>
          <a:lstStyle/>
          <a:p>
            <a:r>
              <a:rPr lang="en-US" dirty="0"/>
              <a:t>Enter a growing field of BI Professionals</a:t>
            </a:r>
          </a:p>
        </p:txBody>
      </p:sp>
      <p:sp>
        <p:nvSpPr>
          <p:cNvPr id="3" name="Content Placeholder 2">
            <a:extLst>
              <a:ext uri="{FF2B5EF4-FFF2-40B4-BE49-F238E27FC236}">
                <a16:creationId xmlns:a16="http://schemas.microsoft.com/office/drawing/2014/main" id="{4A17B0E8-F9FD-F8F2-0D66-EAF044CBE7BB}"/>
              </a:ext>
            </a:extLst>
          </p:cNvPr>
          <p:cNvSpPr>
            <a:spLocks noGrp="1"/>
          </p:cNvSpPr>
          <p:nvPr>
            <p:ph idx="1"/>
          </p:nvPr>
        </p:nvSpPr>
        <p:spPr/>
        <p:txBody>
          <a:bodyPr>
            <a:normAutofit/>
          </a:bodyPr>
          <a:lstStyle/>
          <a:p>
            <a:pPr>
              <a:lnSpc>
                <a:spcPct val="100000"/>
              </a:lnSpc>
            </a:pPr>
            <a:r>
              <a:rPr lang="en-US" sz="2400" dirty="0"/>
              <a:t>According to the Philippine Skills Framework Companies report the largest skills gap  in data analytics, and the demand for data analytics skills is growing over </a:t>
            </a:r>
            <a:r>
              <a:rPr lang="en-US" sz="2400" dirty="0">
                <a:solidFill>
                  <a:srgbClr val="FF0000"/>
                </a:solidFill>
              </a:rPr>
              <a:t>15 times faster</a:t>
            </a:r>
            <a:r>
              <a:rPr lang="en-US" sz="2400" dirty="0"/>
              <a:t> than the demand for the average skill in the US. </a:t>
            </a:r>
            <a:r>
              <a:rPr lang="en-US" sz="2400" i="1" dirty="0"/>
              <a:t>(PSF, 2025)</a:t>
            </a:r>
            <a:r>
              <a:rPr lang="en-US" sz="2400" dirty="0"/>
              <a:t>. </a:t>
            </a:r>
          </a:p>
          <a:p>
            <a:pPr>
              <a:lnSpc>
                <a:spcPct val="100000"/>
              </a:lnSpc>
            </a:pPr>
            <a:r>
              <a:rPr lang="en-US" sz="2400" dirty="0"/>
              <a:t>Every business process, in organizations of all types and sizes, generates huge volumes of data. This data may be stored in different locations and formats that are difficult to access and don’t provide useful insights. </a:t>
            </a:r>
          </a:p>
          <a:p>
            <a:pPr>
              <a:lnSpc>
                <a:spcPct val="100000"/>
              </a:lnSpc>
            </a:pPr>
            <a:r>
              <a:rPr lang="en-US" sz="2400" dirty="0"/>
              <a:t>To use that data to effectively inform business decisions, it needs to be retrieved, structured, interpreted, and reported in usable formats that enable stakeholders to understand and act.</a:t>
            </a:r>
          </a:p>
        </p:txBody>
      </p:sp>
    </p:spTree>
    <p:extLst>
      <p:ext uri="{BB962C8B-B14F-4D97-AF65-F5344CB8AC3E}">
        <p14:creationId xmlns:p14="http://schemas.microsoft.com/office/powerpoint/2010/main" val="2873056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1962-3F38-683E-364B-AB2CF357171E}"/>
              </a:ext>
            </a:extLst>
          </p:cNvPr>
          <p:cNvSpPr>
            <a:spLocks noGrp="1"/>
          </p:cNvSpPr>
          <p:nvPr>
            <p:ph type="title"/>
          </p:nvPr>
        </p:nvSpPr>
        <p:spPr/>
        <p:txBody>
          <a:bodyPr/>
          <a:lstStyle/>
          <a:p>
            <a:r>
              <a:rPr lang="en-US" dirty="0"/>
              <a:t>Global In-House Center Career Map</a:t>
            </a:r>
          </a:p>
        </p:txBody>
      </p:sp>
      <p:pic>
        <p:nvPicPr>
          <p:cNvPr id="5" name="Content Placeholder 4">
            <a:extLst>
              <a:ext uri="{FF2B5EF4-FFF2-40B4-BE49-F238E27FC236}">
                <a16:creationId xmlns:a16="http://schemas.microsoft.com/office/drawing/2014/main" id="{9A044A12-4E9B-482E-4639-F33571091696}"/>
              </a:ext>
            </a:extLst>
          </p:cNvPr>
          <p:cNvPicPr>
            <a:picLocks noGrp="1" noChangeAspect="1"/>
          </p:cNvPicPr>
          <p:nvPr>
            <p:ph idx="1"/>
          </p:nvPr>
        </p:nvPicPr>
        <p:blipFill>
          <a:blip r:embed="rId2"/>
          <a:stretch>
            <a:fillRect/>
          </a:stretch>
        </p:blipFill>
        <p:spPr>
          <a:xfrm>
            <a:off x="1281118" y="1825625"/>
            <a:ext cx="9629764" cy="4351338"/>
          </a:xfrm>
          <a:prstGeom prst="rect">
            <a:avLst/>
          </a:prstGeom>
        </p:spPr>
      </p:pic>
    </p:spTree>
    <p:extLst>
      <p:ext uri="{BB962C8B-B14F-4D97-AF65-F5344CB8AC3E}">
        <p14:creationId xmlns:p14="http://schemas.microsoft.com/office/powerpoint/2010/main" val="3260104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70302-9756-86F8-68EE-DCCD031C3656}"/>
              </a:ext>
            </a:extLst>
          </p:cNvPr>
          <p:cNvSpPr>
            <a:spLocks noGrp="1"/>
          </p:cNvSpPr>
          <p:nvPr>
            <p:ph type="title"/>
          </p:nvPr>
        </p:nvSpPr>
        <p:spPr/>
        <p:txBody>
          <a:bodyPr/>
          <a:lstStyle/>
          <a:p>
            <a:r>
              <a:rPr lang="en-US" dirty="0"/>
              <a:t>Business Intelligence Tools</a:t>
            </a:r>
          </a:p>
        </p:txBody>
      </p:sp>
      <p:sp>
        <p:nvSpPr>
          <p:cNvPr id="3" name="Text Placeholder 2">
            <a:extLst>
              <a:ext uri="{FF2B5EF4-FFF2-40B4-BE49-F238E27FC236}">
                <a16:creationId xmlns:a16="http://schemas.microsoft.com/office/drawing/2014/main" id="{659A9976-8675-76F1-4E45-001608484A65}"/>
              </a:ext>
            </a:extLst>
          </p:cNvPr>
          <p:cNvSpPr>
            <a:spLocks noGrp="1"/>
          </p:cNvSpPr>
          <p:nvPr>
            <p:ph type="body" idx="1"/>
          </p:nvPr>
        </p:nvSpPr>
        <p:spPr>
          <a:xfrm>
            <a:off x="839788" y="1681163"/>
            <a:ext cx="10512424" cy="823912"/>
          </a:xfrm>
        </p:spPr>
        <p:txBody>
          <a:bodyPr>
            <a:normAutofit/>
          </a:bodyPr>
          <a:lstStyle/>
          <a:p>
            <a:r>
              <a:rPr lang="en-US" dirty="0"/>
              <a:t>Business intelligence tools form a diverse ecosystem, each category catering to distinct facets of data analysis and reporting.</a:t>
            </a:r>
          </a:p>
        </p:txBody>
      </p:sp>
      <p:sp>
        <p:nvSpPr>
          <p:cNvPr id="4" name="Content Placeholder 3">
            <a:extLst>
              <a:ext uri="{FF2B5EF4-FFF2-40B4-BE49-F238E27FC236}">
                <a16:creationId xmlns:a16="http://schemas.microsoft.com/office/drawing/2014/main" id="{1749A4EA-1873-A3B5-09B7-49960B8234A3}"/>
              </a:ext>
            </a:extLst>
          </p:cNvPr>
          <p:cNvSpPr>
            <a:spLocks noGrp="1"/>
          </p:cNvSpPr>
          <p:nvPr>
            <p:ph sz="half" idx="2"/>
          </p:nvPr>
        </p:nvSpPr>
        <p:spPr/>
        <p:txBody>
          <a:bodyPr>
            <a:normAutofit fontScale="92500"/>
          </a:bodyPr>
          <a:lstStyle/>
          <a:p>
            <a:pPr marL="0" indent="0">
              <a:buNone/>
            </a:pPr>
            <a:r>
              <a:rPr lang="en-US" b="1" dirty="0">
                <a:solidFill>
                  <a:srgbClr val="FF0000"/>
                </a:solidFill>
              </a:rPr>
              <a:t>Data Visualization Tools</a:t>
            </a:r>
          </a:p>
          <a:p>
            <a:r>
              <a:rPr lang="en-US" dirty="0"/>
              <a:t>Tableau by Salesforce</a:t>
            </a:r>
          </a:p>
          <a:p>
            <a:r>
              <a:rPr lang="en-US" dirty="0"/>
              <a:t>Power BI by Microsoft</a:t>
            </a:r>
          </a:p>
          <a:p>
            <a:pPr marL="0" indent="0">
              <a:buNone/>
            </a:pPr>
            <a:r>
              <a:rPr lang="en-US" b="1" dirty="0">
                <a:solidFill>
                  <a:srgbClr val="FF0000"/>
                </a:solidFill>
              </a:rPr>
              <a:t>Reporting Tools</a:t>
            </a:r>
          </a:p>
          <a:p>
            <a:r>
              <a:rPr lang="en-US" dirty="0"/>
              <a:t>SAP</a:t>
            </a:r>
          </a:p>
          <a:p>
            <a:r>
              <a:rPr lang="en-US" dirty="0"/>
              <a:t>Crystal Reports</a:t>
            </a:r>
          </a:p>
          <a:p>
            <a:r>
              <a:rPr lang="en-US" dirty="0"/>
              <a:t>IBM Cognos Reporting </a:t>
            </a:r>
          </a:p>
        </p:txBody>
      </p:sp>
      <p:sp>
        <p:nvSpPr>
          <p:cNvPr id="6" name="Content Placeholder 5">
            <a:extLst>
              <a:ext uri="{FF2B5EF4-FFF2-40B4-BE49-F238E27FC236}">
                <a16:creationId xmlns:a16="http://schemas.microsoft.com/office/drawing/2014/main" id="{565B35D4-C2A1-42CF-7938-2F53C6A3541C}"/>
              </a:ext>
            </a:extLst>
          </p:cNvPr>
          <p:cNvSpPr>
            <a:spLocks noGrp="1"/>
          </p:cNvSpPr>
          <p:nvPr>
            <p:ph sz="quarter" idx="4"/>
          </p:nvPr>
        </p:nvSpPr>
        <p:spPr/>
        <p:txBody>
          <a:bodyPr>
            <a:normAutofit fontScale="92500"/>
          </a:bodyPr>
          <a:lstStyle/>
          <a:p>
            <a:r>
              <a:rPr lang="en-US" dirty="0"/>
              <a:t>Designed to create interactive visual representations facilitating a comprehensive understanding of complex datasets</a:t>
            </a:r>
          </a:p>
          <a:p>
            <a:r>
              <a:rPr lang="en-US" dirty="0"/>
              <a:t>Focus on structuring and presenting data in a clear and organized format, which is crucial for conveying critical business information effectively.</a:t>
            </a:r>
          </a:p>
        </p:txBody>
      </p:sp>
    </p:spTree>
    <p:extLst>
      <p:ext uri="{BB962C8B-B14F-4D97-AF65-F5344CB8AC3E}">
        <p14:creationId xmlns:p14="http://schemas.microsoft.com/office/powerpoint/2010/main" val="1886474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6EFF203044E04DA6B665C1ED2A54C5" ma:contentTypeVersion="10" ma:contentTypeDescription="Create a new document." ma:contentTypeScope="" ma:versionID="b88352e129412dba34fac671c028abd5">
  <xsd:schema xmlns:xsd="http://www.w3.org/2001/XMLSchema" xmlns:xs="http://www.w3.org/2001/XMLSchema" xmlns:p="http://schemas.microsoft.com/office/2006/metadata/properties" xmlns:ns2="77f20dd6-fd60-4027-90d0-db7f77362ee2" xmlns:ns3="700338d4-0b15-4bc7-b01e-489578ee16a5" targetNamespace="http://schemas.microsoft.com/office/2006/metadata/properties" ma:root="true" ma:fieldsID="fcb067ec39ac46ae0a10974cada84f1c" ns2:_="" ns3:_="">
    <xsd:import namespace="77f20dd6-fd60-4027-90d0-db7f77362ee2"/>
    <xsd:import namespace="700338d4-0b15-4bc7-b01e-489578ee16a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f20dd6-fd60-4027-90d0-db7f77362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a234d76-db53-4d28-81b4-3346544eb4d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0338d4-0b15-4bc7-b01e-489578ee16a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31c27c2-facf-4b80-adf0-1819da0f1de5}" ma:internalName="TaxCatchAll" ma:showField="CatchAllData" ma:web="700338d4-0b15-4bc7-b01e-489578ee16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7f20dd6-fd60-4027-90d0-db7f77362ee2">
      <Terms xmlns="http://schemas.microsoft.com/office/infopath/2007/PartnerControls"/>
    </lcf76f155ced4ddcb4097134ff3c332f>
    <TaxCatchAll xmlns="700338d4-0b15-4bc7-b01e-489578ee16a5" xsi:nil="true"/>
  </documentManagement>
</p:properties>
</file>

<file path=customXml/itemProps1.xml><?xml version="1.0" encoding="utf-8"?>
<ds:datastoreItem xmlns:ds="http://schemas.openxmlformats.org/officeDocument/2006/customXml" ds:itemID="{D887E147-272B-40FF-BF91-260212B2EA75}"/>
</file>

<file path=customXml/itemProps2.xml><?xml version="1.0" encoding="utf-8"?>
<ds:datastoreItem xmlns:ds="http://schemas.openxmlformats.org/officeDocument/2006/customXml" ds:itemID="{FB425F70-6201-4E2D-950B-70B54623A08C}"/>
</file>

<file path=customXml/itemProps3.xml><?xml version="1.0" encoding="utf-8"?>
<ds:datastoreItem xmlns:ds="http://schemas.openxmlformats.org/officeDocument/2006/customXml" ds:itemID="{BF71ACD0-626A-46C1-A4B8-62033E15FA55}"/>
</file>

<file path=docProps/app.xml><?xml version="1.0" encoding="utf-8"?>
<Properties xmlns="http://schemas.openxmlformats.org/officeDocument/2006/extended-properties" xmlns:vt="http://schemas.openxmlformats.org/officeDocument/2006/docPropsVTypes">
  <TotalTime>155</TotalTime>
  <Words>1115</Words>
  <Application>Microsoft Office PowerPoint</Application>
  <PresentationFormat>Widescreen</PresentationFormat>
  <Paragraphs>101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Business Intelligence</vt:lpstr>
      <vt:lpstr>Course Objectives (Business Intelligenc)</vt:lpstr>
      <vt:lpstr>Lesson Learning Outcomes:</vt:lpstr>
      <vt:lpstr>Lesson Learning Outcomes:</vt:lpstr>
      <vt:lpstr>Lesson Learning Outcomes:</vt:lpstr>
      <vt:lpstr>Subject expectations</vt:lpstr>
      <vt:lpstr>Introduction to Business Intelligence</vt:lpstr>
      <vt:lpstr>Definition</vt:lpstr>
      <vt:lpstr>Howard Dresner</vt:lpstr>
      <vt:lpstr>Business Intelligence Overview</vt:lpstr>
      <vt:lpstr>Evolution</vt:lpstr>
      <vt:lpstr>How Business Intelligence (BI) Is used: Scenario: A Retail Company Improving Sales and Inventory Management</vt:lpstr>
      <vt:lpstr>How Business Intelligence (BI) Is used:</vt:lpstr>
      <vt:lpstr>How Business Intelligence (BI) Is used:</vt:lpstr>
      <vt:lpstr>Role of data-driven decision-making in modern enterprises</vt:lpstr>
      <vt:lpstr>Enter a growing field of BI Professionals</vt:lpstr>
      <vt:lpstr>Global In-House Center Career Map</vt:lpstr>
      <vt:lpstr>Business Intelligence Tools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Jackeline Favenir</dc:creator>
  <cp:lastModifiedBy>Jackeline Favenir</cp:lastModifiedBy>
  <cp:revision>8</cp:revision>
  <dcterms:created xsi:type="dcterms:W3CDTF">2025-12-19T15:39:08Z</dcterms:created>
  <dcterms:modified xsi:type="dcterms:W3CDTF">2026-01-16T22:38:47Z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0x0101005C6EFF203044E04DA6B665C1ED2A54C5</vt:lpwstr>
  </property>
</Properties>
</file>